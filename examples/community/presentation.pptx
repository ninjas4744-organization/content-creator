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מה משותף לרובוט, סדנה לילדים וקהילה חזקה? בפירסט, כולם חלק מאותה משימה: להשתמש במה שאנחנו לומדים כדי להשפיע על העולם שסביבנו.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הקהילה שלנו מתחילה בחברי הקבוצה, במנטורים ובבוגרים. היא ממשיכה לקבוצות אחרות, לבתי ספר, למשפחות ולשותפים בקהילה. כל קשר כזה יכול לפתוח הזדמנות חדשה ללמוד ולעזור.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גילוי, חדשנות, השפעה, הכלה, עבודת צוות והנאה. אלה ערכי פירסט. הם מלווים אותנו כשאנחנו בונים רובוט, וגם כשאנחנו יוצאים מהסדנה ומזמינים אחרים להתנסות וללמוד.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מקצועיות אדיבה משלבת עבודה איכותית עם כבוד לאחרים. ושיתוף פעולה בתחרות? זה אומר שקבוצות עוזרות זו לזו בתחרות, מעבר למגרש וגם לאורך השנה. משתפים ידע, מדריכים ופותרים בעיות יחד.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אפשר להוביל סדרת סדנאות לילדים, למנטר קבוצה צעירה, לארגן כנס ידע לקהילת פירסט, או להדגים רובוט בכנס קהילתי. בכל רעיון, הקהל מקבל הזדמנות להתנסות ולקחת חלק.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הפעילות מחזקת גם אותנו. כשמלמדים, מבינים טוב יותר. קהילה שמכירה את הקבוצה בונה אמון, והאמון יכול לעזור בגיוס חברים, מנטורים וספונסרים, ובקבלת משאבים להמשך העשייה.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בצוות הקהילה, כל אחד מפתח פרויקט אישי ומתמשך. בוחרים תחום שמעניין אתכם, לוקחים אחריות ומתקדמים לאורך זמן. ובדרך? שאר הצוות עוזר, משתף ידע ונותן משוב.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לפני שבוחרים פעילות, שואלים: למי אני רוצה לעזור? מה הצורך האמיתי שלהם? ומי יכול להיות שותף? שיחה טובה עם הקהילה עוזרת לבנות פעילות שמתאימה לאנשים עצמם.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בהתחלה מבררים את הצורך. אחר כך מתכננים ומנסים בתוך הצוות. בפעילות הראשונה בודקים מה עובד עם הקהל. ואז אוספים משוב, משפרים ומתכננים את המפגש הבא. ככה בונים המשכיות.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איך יודעים שהפרויקט עוזר? מתעדים מי הגיע, מה המשתתפים למדו, איזה משוב קיבלנו ומי חוזר למפגש נוסף. כל מספר חשוב. על פרס האימפקט ועל פרסים בכלל נרחיב בהכשרה הבאה.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למשל, סדנת רובוטיקה חודשית בבית ספר. מתחילים בהתנסות פשוטה, ממשיכים לבנייה, ובהמשך המשתתפים משתפים מה יצרו. זו דוגמה בלבד. הפרויקט שלכם יתחיל בצורך שתגלו ובקשר שתבנו.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עכשיו תורכם. בחרו קהל יעד, דברו עם שותף וחשבו על פרויקט שתרצו להוביל לאורך זמן. רעיון אישי, עזרה מהצוות וקהילה שצומחת יחד. הפרויקט הבא מתחיל בכם.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857678"/>
            <a:ext cx="2762250" cy="27806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86250" y="1095375"/>
            <a:ext cx="6953250" cy="195262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6187"/>
              </a:lnSpc>
              <a:spcBef>
                <a:spcPts val="0"/>
              </a:spcBef>
              <a:spcAft>
                <a:spcPts val="0"/>
              </a:spcAft>
            </a:pPr>
            <a:r>
              <a:rPr sz="4950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מבוא לקהילה בפירסט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0" y="3143250"/>
            <a:ext cx="6953250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קהילה שמתחילה בכם</a:t>
            </a:r>
          </a:p>
        </p:txBody>
      </p: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4822464"/>
            <a:ext cx="4667250" cy="6515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הקהילה מתחילה באנשים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02 / 12</a:t>
            </a:r>
          </a:p>
        </p:txBody>
      </p:sp>
      <p:pic>
        <p:nvPicPr>
          <p:cNvPr id="8" name="Picture 7" descr="tea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31" y="2057400"/>
            <a:ext cx="4991711" cy="333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77000" y="2190750"/>
            <a:ext cx="4619625" cy="3190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קבוצות, בתי ספר, משפחות</a:t>
            </a:r>
          </a:p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ושותפים.</a:t>
            </a:r>
          </a:p>
          <a:p>
            <a:pPr algn="r" rtl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/>
            </a:r>
          </a:p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אנחנו יוצרים קשרים, משתפים ידע</a:t>
            </a:r>
          </a:p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ונותנים לאנשים הזדמנות להתנסות</a:t>
            </a:r>
          </a:p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ברובוטיקה.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5600700"/>
            <a:ext cx="10096500" cy="4762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קהילה נבנית דרך קשר מתמשך עם אנשים.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ערכים שהופכים לעשייה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2000250"/>
            <a:ext cx="30956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2781300"/>
            <a:ext cx="30956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מגלים מיומנויות ורעיונות</a:t>
            </a:r>
          </a:p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חדשים.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1899" y="2038349"/>
            <a:ext cx="0" cy="18002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0999" y="2000250"/>
            <a:ext cx="30956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0999" y="2781300"/>
            <a:ext cx="30956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מחפשים פתרונות יצירתיים.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52900" y="2038349"/>
            <a:ext cx="0" cy="18002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000" y="2000250"/>
            <a:ext cx="30956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781300"/>
            <a:ext cx="30956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משתמשים במה שלמדנו כדי</a:t>
            </a:r>
          </a:p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לעזור.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0" y="4095750"/>
            <a:ext cx="30956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Inclusion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4876800"/>
            <a:ext cx="30956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מכבדים זה את זה ומקבלים</a:t>
            </a:r>
          </a:p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את כולם.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1899" y="4133849"/>
            <a:ext cx="0" cy="18002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90999" y="4095750"/>
            <a:ext cx="30956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Teamwork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0999" y="4876800"/>
            <a:ext cx="30956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עובדים יחד ומשתפים ידע.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52900" y="4133849"/>
            <a:ext cx="0" cy="18002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2000" y="4095750"/>
            <a:ext cx="30956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Fun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876800"/>
            <a:ext cx="30956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נהנים וחוגגים את מה</a:t>
            </a:r>
          </a:p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שעושים.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עזרה הדדית לאורך כל השנה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0" y="2000250"/>
            <a:ext cx="48101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Gracious Professionalism®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0" y="2952750"/>
            <a:ext cx="48101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מקצועיות אדיבה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עושים עבודה איכותית, מכבדים אחרים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ותורמים לקהילה.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67400" y="2038349"/>
            <a:ext cx="0" cy="38957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2000" y="2000250"/>
            <a:ext cx="48101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0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Coopertition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52750"/>
            <a:ext cx="48101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שיתוף פעולה בתחרות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עוזרים לקבוצות אחרות במגרש וגם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מעבר לו, לאורך כל השנה.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דוגמאות למה אפשר לעשות בקהילה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0" y="2000250"/>
            <a:ext cx="48101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פעילות קהילתית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0" y="2781300"/>
            <a:ext cx="48101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סדנאות והתנסות ברובוטיקה.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67400" y="2038349"/>
            <a:ext cx="0" cy="18002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2000" y="2000250"/>
            <a:ext cx="48101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מינטור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781300"/>
            <a:ext cx="48101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ליווי קבוצה צעירה לאורך זמן.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0" y="4095750"/>
            <a:ext cx="48101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כנס לקהילת פירסט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0" y="4876800"/>
            <a:ext cx="48101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הדרכות ושיתוף ידע בין קבוצות.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67400" y="4133849"/>
            <a:ext cx="0" cy="18002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2000" y="4095750"/>
            <a:ext cx="4810125" cy="685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כנס קהילתי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876800"/>
            <a:ext cx="4810125" cy="1190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הדגמת רובוט ומפגש עם הקהל.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הקבוצה צומחת עם הקהילה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06 / 12</a:t>
            </a:r>
          </a:p>
        </p:txBody>
      </p:sp>
      <p:pic>
        <p:nvPicPr>
          <p:cNvPr id="8" name="Picture 7" descr="tea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31" y="2057400"/>
            <a:ext cx="4991711" cy="333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77000" y="2190750"/>
            <a:ext cx="4619625" cy="3190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פעילות קהילתית בונה היכרות ואמון.</a:t>
            </a:r>
          </a:p>
          <a:p>
            <a:pPr algn="r" rtl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/>
            </a:r>
          </a:p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כך נפתחות דלתות לחברים חדשים,</a:t>
            </a:r>
          </a:p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מנטורים, ספונסרים ומשאבים</a:t>
            </a:r>
          </a:p>
          <a:p>
            <a:pPr algn="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נוספים.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5600700"/>
            <a:ext cx="10096500" cy="4762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לומדים ללמד, להוביל ולבנות קשרים.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כל אחד מוביל פרויקט משלו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אחריות אישית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כל חבר צוות מפתח רעיון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ומוביל פרויקט משלו.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1899" y="2038349"/>
            <a:ext cx="0" cy="38957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0999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עשייה מתמשכת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0999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בונים קשר ומפגשים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לאורך זמן.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52900" y="2038349"/>
            <a:ext cx="0" cy="38957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000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עזרה מהצוות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משתפים ידע, נותנים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משוב ועוזרים זה לזה.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פרויקט טוב מתחיל בהקשבה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למי עוזרים?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מגדירים קהל יעד ופוגשים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אותו.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1899" y="2038349"/>
            <a:ext cx="0" cy="38957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0999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מה צריך?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0999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שואלים ומקשיבים לפני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שמציעים פתרון.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52900" y="2038349"/>
            <a:ext cx="0" cy="38957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000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עם מי פועלים?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מחפשים שותף מהקהילה.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הדרך לפרויקט מתמשך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09 / 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4125" y="2724150"/>
            <a:ext cx="7143750" cy="0"/>
          </a:xfrm>
          <a:prstGeom prst="line">
            <a:avLst/>
          </a:prstGeom>
          <a:ln w="9525">
            <a:solidFill>
              <a:srgbClr val="FFDA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286875" y="2286000"/>
            <a:ext cx="762000" cy="6191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8687" y="3324225"/>
            <a:ext cx="2238375" cy="904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בירור הצורך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8687" y="4381500"/>
            <a:ext cx="2238375" cy="1428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המטרה: להבין למי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עוזרים ומה חסר.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5625" y="2286000"/>
            <a:ext cx="762000" cy="6191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7437" y="3324225"/>
            <a:ext cx="2238375" cy="904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תכנון והרצה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7437" y="4381500"/>
            <a:ext cx="2238375" cy="1428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המטרה: להכין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פעילות מתאימה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ובטוחה.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2286000"/>
            <a:ext cx="762000" cy="6191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187" y="3324225"/>
            <a:ext cx="2238375" cy="904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פעילות ראשונה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6187" y="4381500"/>
            <a:ext cx="2238375" cy="1428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המטרה: ללמוד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מהמפגש עם הקהל.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3125" y="2286000"/>
            <a:ext cx="762000" cy="6191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4937" y="3324225"/>
            <a:ext cx="2238375" cy="904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משוב והמשכיות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4937" y="4381500"/>
            <a:ext cx="2238375" cy="1428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המטרה: לשפר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ולתכנן את המפגש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הבא.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כל מספר חשוב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הגעה והמשכיות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כמה הגיעו? מי חוזר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למפגש הבא?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1899" y="2038349"/>
            <a:ext cx="0" cy="38957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0999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למידה ומשוב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0999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מה המשתתפים למדו? מה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כדאי לשפר?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52900" y="2038349"/>
            <a:ext cx="0" cy="3895726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000" y="2000250"/>
            <a:ext cx="3095625" cy="76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3656"/>
              </a:lnSpc>
              <a:spcBef>
                <a:spcPts val="0"/>
              </a:spcBef>
              <a:spcAft>
                <a:spcPts val="0"/>
              </a:spcAft>
            </a:pPr>
            <a:r>
              <a:rPr sz="2925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תיעוד מסודר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952750"/>
            <a:ext cx="3095625" cy="3095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מתעדים כל מספר וכל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תובנה. על אימפקט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ופרסים נרחיב במצגת</a:t>
            </a:r>
          </a:p>
          <a:p>
            <a:pPr algn="r" rtl="1">
              <a:lnSpc>
                <a:spcPts val="2906"/>
              </a:lnSpc>
              <a:spcBef>
                <a:spcPts val="0"/>
              </a:spcBef>
              <a:spcAft>
                <a:spcPts val="0"/>
              </a:spcAft>
            </a:pPr>
            <a:r>
              <a:rPr sz="2325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הבאה.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דוגמה: סדנה חודשית בבית ספר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11 / 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1000" y="2724150"/>
            <a:ext cx="6350000" cy="0"/>
          </a:xfrm>
          <a:prstGeom prst="line">
            <a:avLst/>
          </a:prstGeom>
          <a:ln w="9525">
            <a:solidFill>
              <a:srgbClr val="FFDA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890000" y="2286000"/>
            <a:ext cx="762000" cy="6191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8750" y="3324225"/>
            <a:ext cx="2984500" cy="904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מתנסים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8750" y="4381500"/>
            <a:ext cx="2984500" cy="1428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מכירים את עולם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הרובוטיקה.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286000"/>
            <a:ext cx="762000" cy="6191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3750" y="3324225"/>
            <a:ext cx="2984500" cy="904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בונים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3750" y="4381500"/>
            <a:ext cx="2984500" cy="1428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יוצרים פתרון פשוט ועובדים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יחד.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0000" y="2286000"/>
            <a:ext cx="762000" cy="6191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en-US">
                <a:solidFill>
                  <a:srgbClr val="FFDA9D"/>
                </a:solidFill>
                <a:latin typeface="Rubik"/>
                <a:cs typeface="Rubik"/>
                <a:ea typeface="Rubi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750" y="3324225"/>
            <a:ext cx="2984500" cy="904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3093"/>
              </a:lnSpc>
              <a:spcBef>
                <a:spcPts val="0"/>
              </a:spcBef>
              <a:spcAft>
                <a:spcPts val="0"/>
              </a:spcAft>
            </a:pPr>
            <a:r>
              <a:rPr sz="24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משתפים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50" y="4381500"/>
            <a:ext cx="2984500" cy="1428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מציגים מה יצרנו ולומדים זה</a:t>
            </a:r>
          </a:p>
          <a:p>
            <a:pPr algn="ctr" rtl="1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he-IL">
                <a:solidFill>
                  <a:srgbClr val="A9D8F6"/>
                </a:solidFill>
                <a:latin typeface="Rubik"/>
                <a:cs typeface="Rubik"/>
                <a:ea typeface="Rubik"/>
              </a:rPr>
              <a:t>מזה.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74520"/>
            <a:ext cx="514350" cy="51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95299"/>
            <a:ext cx="9810750" cy="952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 rtl="1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3975" b="1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למי תרצו לעזור?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0125" y="1552575"/>
            <a:ext cx="10191750" cy="0"/>
          </a:xfrm>
          <a:prstGeom prst="line">
            <a:avLst/>
          </a:prstGeom>
          <a:ln w="9525">
            <a:solidFill>
              <a:srgbClr val="A9D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48335"/>
            <a:ext cx="2047875" cy="285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4625" y="6381750"/>
            <a:ext cx="904875" cy="285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 rtl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A9D8F6"/>
                </a:solidFill>
                <a:latin typeface="Rubik"/>
                <a:cs typeface="Rubik"/>
                <a:ea typeface="Rubik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4500" y="2190750"/>
            <a:ext cx="8763000" cy="17621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56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lang="he-IL">
                <a:solidFill>
                  <a:srgbClr val="FFDA9D"/>
                </a:solidFill>
                <a:latin typeface="Rubik"/>
                <a:cs typeface="Rubik"/>
                <a:ea typeface="Rubik"/>
              </a:rPr>
              <a:t>למי תרצו לעזור?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00" y="4190999"/>
            <a:ext cx="8381999" cy="1428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בחרו קהל יעד, שוחחו עם שותף והציעו צעד ראשון לפרויקט אישי</a:t>
            </a:r>
          </a:p>
          <a:p>
            <a:pPr algn="ctr" rtl="1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0" lang="he-IL">
                <a:solidFill>
                  <a:srgbClr val="FAFCFF"/>
                </a:solidFill>
                <a:latin typeface="Rubik"/>
                <a:cs typeface="Rubik"/>
                <a:ea typeface="Rubik"/>
              </a:rPr>
              <a:t>ומתמשך.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לקהילה בפירסט · Da Vinci 4744</dc:title>
  <dc:subject/>
  <dc:creator>Da Vinci 4744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