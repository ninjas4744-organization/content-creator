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Rubik Bold" charset="1" panose="00000800000000000000"/>
      <p:regular r:id="rId22"/>
    </p:embeddedFont>
    <p:embeddedFont>
      <p:font typeface="Rubik" charset="1" panose="00000000000000000000"/>
      <p:regular r:id="rId24"/>
    </p:embeddedFont>
    <p:embeddedFont>
      <p:font typeface="Canva Sans" charset="1" panose="020B0503030501040103"/>
      <p:regular r:id="rId26"/>
    </p:embeddedFont>
    <p:embeddedFont>
      <p:font typeface="Canva Sans Bold" charset="1" panose="020B08030305010401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notesSlides/notesSlide3.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ברוכים הבאים לתוכנית Da Vinci. פותחים בסבב שמות והיכרות.</a:t>
            </a:r>
          </a:p>
          <a:p>
            <a:r>
              <a:rPr lang="en-US"/>
              <a:t>תבנית: https://www.canva.com/design/DAHX5KMRVaU/Ssvh-dibqphOLxFSni0H0A/edit</a:t>
            </a:r>
          </a:p>
          <a:p>
            <a:r>
              <a:rPr lang="en-US"/>
              <a:t>מקור התאריך והשעות: הזמנת המפגש שצורפה על ידי המשתמש.</a:t>
            </a:r>
          </a:p>
          <a:p>
            <a:r>
              <a:rPr lang="en-US"/>
              <a:t>לוגו: קובצי המקור באתר הקבוצה, public/assets/DaVinciLogo.svg ו־DaVinciHeroTitle.svg.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תבנית העיצוב: https://www.canva.com/design/DAHX5KMRVaU/Ssvh-dibqphOLxFSni0H0A/edit</a:t>
            </a:r>
          </a:p>
          <a:p>
            <a:r>
              <a:rPr lang="en-US"/>
              <a:t>מדריך המיתוג שסופק: /Users/realkfiros/Downloads/1d9f8dc2-22cb-46bd-92eb-afaf8b091bbf.pdf</a:t>
            </a:r>
          </a:p>
          <a:p>
            <a:r>
              <a:rPr lang="en-US"/>
              <a:t/>
            </a:r>
          </a:p>
          <a:p>
            <a:r>
              <a:rPr lang="en-US"/>
              <a:t>מקור זהות הקבוצה ושנת הייסוד: https://davinci4744.com/ ובקוד אתר הקבוצה components/home/TeamHighlights.tsx. התמונה המקורית: public/assets/teamPicture2026.webp.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הפסקאות שסומנו על ידי המשתמש הוסרו. סמל FIRST מתוך קובצי אתר הקבוצה: public/assets/FirstLogo.svg. מקור ההסבר הקיים על FIRST ו־FRC: https://www.firstinspires.org/programs/frc/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ציר הזמן עודכן לפי פירוט המשתמש מ־20.10.2026: מפגש היכרות, מפגש חשיפה לאנשי הקבוצה ולצוותים, הכשרות מסוף אוקטובר עד דצמבר, תחרות הכנה בדצמבר, המשך הכשרות וסיורים והרצאות עד תחילת ינואר. קיקאוף לעונת 2027 בינואר ועונה הנמשכת עד סוף אפריל. נבנה רובוט חדש שישחק את אתגר 2027 על פי ההכשרות שנלמדו. תחרויות בארץ ובעולם במרץ–אפריל, ופעילויות והפתעות בהמשך השנה.</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תחומי הצוותים עודכנו לפי הערות המשתמש מ־20.10.2026, כולל מידול וייצור חלקים, סימולציות ו־AI, המערכת החשמלית, הדפסות בתלת־ממד, גיוס כספים ותמיכה, רשתות חברתיות, נהיגה ברובוט, אימונים לקראת עלייה למגרש והובלת הנבחרת לאורך השנה. קבצים נוספים לצוותים טרם צורפו בעת העדכון.</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מידע שסיפק המשתמש: הבית בבית הספר כולל סדנת עבודה עם כלים, חומרים ומכונות. מרכז היזמות והרובוטיקה באשכול פיס, שבו השיפוץ יסתיים בקרוב, משמש לפגישות קבוצה, הרצאות ואירועים. במהלך עונת התחרויות נמצא בו מגרש העונה. הבית משמש גם אחרי יום הלימודים לחימום אוכל, להשלמת שיעורים ולמפגש עם חברי הקבוצה. צילום הרובוט שסיפק המשתמש נשמר במלואו: DSC_3504~2.JPG.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סבב שאלות. הכותרת וכותרת המשנה ממורכזות, וסימן השאלה הנפרד הוסר לפי בקשת המשתמש.</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סיום המפגש. מזכירים את פרטי המפגש הבא לאחר שהצוות אישר אותם.</a:t>
            </a:r>
          </a:p>
          <a:p>
            <a:r>
              <a:rPr lang="en-US"/>
              <a:t>תבנית: https://www.canva.com/design/DAHX5KMRVaU/Ssvh-dibqphOLxFSni0H0A/edit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8.png" Type="http://schemas.openxmlformats.org/officeDocument/2006/relationships/image"/><Relationship Id="rId7" Target="https://www.youtube.com/watch?v=_fybREErgyM" TargetMode="External" Type="http://schemas.openxmlformats.org/officeDocument/2006/relationships/hyperlink"/><Relationship Id="rId8" Target="https://www.youtube.com/watch?v=_fybREErgyM"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https://www.youtube.com/watch?v=_fybREErgyM" TargetMode="External" Type="http://schemas.openxmlformats.org/officeDocument/2006/relationships/video"/></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https://www.youtube.com/watch?v=LpSKkulNuz8" TargetMode="External" Type="http://schemas.openxmlformats.org/officeDocument/2006/relationships/video"/></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https://www.youtube.com/watch?v=3-_qhjSbCCU" TargetMode="External" Type="http://schemas.openxmlformats.org/officeDocument/2006/relationships/video"/></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16" Target="../media/image22.png" Type="http://schemas.openxmlformats.org/officeDocument/2006/relationships/image"/><Relationship Id="rId17" Target="../media/image23.svg" Type="http://schemas.openxmlformats.org/officeDocument/2006/relationships/image"/><Relationship Id="rId2" Target="../media/image5.pn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2" Target="../notesSlides/notesSlide5.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27.gi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514600" y="2801760"/>
            <a:ext cx="3857625" cy="3883381"/>
            <a:chOff x="0" y="0"/>
            <a:chExt cx="5143500" cy="5177841"/>
          </a:xfrm>
        </p:grpSpPr>
        <p:sp>
          <p:nvSpPr>
            <p:cNvPr name="Freeform 5" id="5" descr="סמל Da Vinci המדויק שסופק על ידי המשתמש"/>
            <p:cNvSpPr/>
            <p:nvPr/>
          </p:nvSpPr>
          <p:spPr>
            <a:xfrm flipH="false" flipV="false" rot="0">
              <a:off x="0" y="0"/>
              <a:ext cx="5143500" cy="5177790"/>
            </a:xfrm>
            <a:custGeom>
              <a:avLst/>
              <a:gdLst/>
              <a:ahLst/>
              <a:cxnLst/>
              <a:rect r="r" b="b" t="t" l="l"/>
              <a:pathLst>
                <a:path h="5177790" w="5143500">
                  <a:moveTo>
                    <a:pt x="0" y="0"/>
                  </a:moveTo>
                  <a:lnTo>
                    <a:pt x="5143500" y="0"/>
                  </a:lnTo>
                  <a:lnTo>
                    <a:pt x="5143500" y="5177790"/>
                  </a:lnTo>
                  <a:lnTo>
                    <a:pt x="0" y="5177790"/>
                  </a:lnTo>
                  <a:lnTo>
                    <a:pt x="0" y="0"/>
                  </a:lnTo>
                  <a:close/>
                </a:path>
              </a:pathLst>
            </a:custGeom>
            <a:blipFill>
              <a:blip r:embed="rId4"/>
              <a:stretch>
                <a:fillRect l="0" t="0" r="0" b="0"/>
              </a:stretch>
            </a:blipFill>
          </p:spPr>
        </p:sp>
      </p:grpSp>
      <p:sp>
        <p:nvSpPr>
          <p:cNvPr name="TextBox 6" id="6"/>
          <p:cNvSpPr txBox="true"/>
          <p:nvPr/>
        </p:nvSpPr>
        <p:spPr>
          <a:xfrm rot="0">
            <a:off x="7715250" y="842963"/>
            <a:ext cx="9658350" cy="1171575"/>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ברוכים הבאים לתוכנית</a:t>
            </a:r>
          </a:p>
        </p:txBody>
      </p:sp>
      <p:grpSp>
        <p:nvGrpSpPr>
          <p:cNvPr name="Group 7" id="7"/>
          <p:cNvGrpSpPr/>
          <p:nvPr/>
        </p:nvGrpSpPr>
        <p:grpSpPr>
          <a:xfrm rot="0">
            <a:off x="9531191" y="2286000"/>
            <a:ext cx="7055168" cy="1857375"/>
            <a:chOff x="0" y="0"/>
            <a:chExt cx="9406890" cy="2476500"/>
          </a:xfrm>
        </p:grpSpPr>
        <p:sp>
          <p:nvSpPr>
            <p:cNvPr name="Freeform 8" id="8"/>
            <p:cNvSpPr/>
            <p:nvPr/>
          </p:nvSpPr>
          <p:spPr>
            <a:xfrm flipH="false" flipV="false" rot="0">
              <a:off x="0" y="0"/>
              <a:ext cx="9406890" cy="2476500"/>
            </a:xfrm>
            <a:custGeom>
              <a:avLst/>
              <a:gdLst/>
              <a:ahLst/>
              <a:cxnLst/>
              <a:rect r="r" b="b" t="t" l="l"/>
              <a:pathLst>
                <a:path h="2476500" w="9406890">
                  <a:moveTo>
                    <a:pt x="0" y="0"/>
                  </a:moveTo>
                  <a:lnTo>
                    <a:pt x="9406890" y="0"/>
                  </a:lnTo>
                  <a:lnTo>
                    <a:pt x="9406890" y="2476500"/>
                  </a:lnTo>
                  <a:lnTo>
                    <a:pt x="0" y="2476500"/>
                  </a:lnTo>
                  <a:lnTo>
                    <a:pt x="0" y="0"/>
                  </a:lnTo>
                  <a:close/>
                </a:path>
              </a:pathLst>
            </a:custGeom>
            <a:blipFill>
              <a:blip r:embed="rId5"/>
              <a:stretch>
                <a:fillRect l="0" t="0" r="0" b="0"/>
              </a:stretch>
            </a:blipFill>
          </p:spPr>
        </p:sp>
      </p:grpSp>
      <p:grpSp>
        <p:nvGrpSpPr>
          <p:cNvPr name="Group 9" id="9"/>
          <p:cNvGrpSpPr/>
          <p:nvPr/>
        </p:nvGrpSpPr>
        <p:grpSpPr>
          <a:xfrm rot="0">
            <a:off x="9682639" y="4286250"/>
            <a:ext cx="6983492" cy="2542003"/>
            <a:chOff x="0" y="0"/>
            <a:chExt cx="9311322" cy="3389338"/>
          </a:xfrm>
        </p:grpSpPr>
        <p:sp>
          <p:nvSpPr>
            <p:cNvPr name="Freeform 10" id="10"/>
            <p:cNvSpPr/>
            <p:nvPr/>
          </p:nvSpPr>
          <p:spPr>
            <a:xfrm flipH="false" flipV="false" rot="0">
              <a:off x="0" y="0"/>
              <a:ext cx="9311386" cy="3389376"/>
            </a:xfrm>
            <a:custGeom>
              <a:avLst/>
              <a:gdLst/>
              <a:ahLst/>
              <a:cxnLst/>
              <a:rect r="r" b="b" t="t" l="l"/>
              <a:pathLst>
                <a:path h="3389376" w="9311386">
                  <a:moveTo>
                    <a:pt x="0" y="0"/>
                  </a:moveTo>
                  <a:lnTo>
                    <a:pt x="9311386" y="0"/>
                  </a:lnTo>
                  <a:lnTo>
                    <a:pt x="9311386" y="3389376"/>
                  </a:lnTo>
                  <a:lnTo>
                    <a:pt x="0" y="3389376"/>
                  </a:lnTo>
                  <a:lnTo>
                    <a:pt x="0" y="0"/>
                  </a:lnTo>
                  <a:close/>
                </a:path>
              </a:pathLst>
            </a:custGeom>
            <a:blipFill>
              <a:blip r:embed="rId6"/>
              <a:stretch>
                <a:fillRect l="0" t="0" r="0" b="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400300" y="861346"/>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4"/>
              <a:stretch>
                <a:fillRect l="0" t="0" r="0" b="-1"/>
              </a:stretch>
            </a:blipFill>
          </p:spPr>
        </p:sp>
      </p:grpSp>
      <p:sp>
        <p:nvSpPr>
          <p:cNvPr name="TextBox 6" id="6"/>
          <p:cNvSpPr txBox="true"/>
          <p:nvPr/>
        </p:nvSpPr>
        <p:spPr>
          <a:xfrm rot="0">
            <a:off x="3071812" y="771525"/>
            <a:ext cx="14301788" cy="1228725"/>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מי אנחנו?</a:t>
            </a:r>
          </a:p>
        </p:txBody>
      </p:sp>
      <p:grpSp>
        <p:nvGrpSpPr>
          <p:cNvPr name="Group 7" id="7"/>
          <p:cNvGrpSpPr/>
          <p:nvPr/>
        </p:nvGrpSpPr>
        <p:grpSpPr>
          <a:xfrm rot="0">
            <a:off x="914400" y="2471738"/>
            <a:ext cx="16459200" cy="14288"/>
            <a:chOff x="0" y="0"/>
            <a:chExt cx="21945600" cy="19050"/>
          </a:xfrm>
        </p:grpSpPr>
        <p:sp>
          <p:nvSpPr>
            <p:cNvPr name="Freeform 8" id="8"/>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F4D3A0">
                <a:alpha val="17255"/>
              </a:srgbClr>
            </a:solidFill>
          </p:spPr>
        </p:sp>
      </p:grpSp>
      <p:grpSp>
        <p:nvGrpSpPr>
          <p:cNvPr name="Group 9" id="9"/>
          <p:cNvGrpSpPr/>
          <p:nvPr/>
        </p:nvGrpSpPr>
        <p:grpSpPr>
          <a:xfrm rot="0">
            <a:off x="914400" y="9320974"/>
            <a:ext cx="3400425" cy="474736"/>
            <a:chOff x="0" y="0"/>
            <a:chExt cx="4533900" cy="632981"/>
          </a:xfrm>
        </p:grpSpPr>
        <p:sp>
          <p:nvSpPr>
            <p:cNvPr name="Freeform 10" id="10"/>
            <p:cNvSpPr/>
            <p:nvPr/>
          </p:nvSpPr>
          <p:spPr>
            <a:xfrm flipH="false" flipV="false" rot="0">
              <a:off x="0" y="0"/>
              <a:ext cx="4533900" cy="632968"/>
            </a:xfrm>
            <a:custGeom>
              <a:avLst/>
              <a:gdLst/>
              <a:ahLst/>
              <a:cxnLst/>
              <a:rect r="r" b="b" t="t" l="l"/>
              <a:pathLst>
                <a:path h="632968" w="4533900">
                  <a:moveTo>
                    <a:pt x="0" y="0"/>
                  </a:moveTo>
                  <a:lnTo>
                    <a:pt x="4533900" y="0"/>
                  </a:lnTo>
                  <a:lnTo>
                    <a:pt x="4533900" y="632968"/>
                  </a:lnTo>
                  <a:lnTo>
                    <a:pt x="0" y="632968"/>
                  </a:lnTo>
                  <a:lnTo>
                    <a:pt x="0" y="0"/>
                  </a:lnTo>
                  <a:close/>
                </a:path>
              </a:pathLst>
            </a:custGeom>
            <a:blipFill>
              <a:blip r:embed="rId5"/>
              <a:stretch>
                <a:fillRect l="0" t="0" r="0" b="-2"/>
              </a:stretch>
            </a:blipFill>
          </p:spPr>
        </p:sp>
      </p:grpSp>
      <p:sp>
        <p:nvSpPr>
          <p:cNvPr name="TextBox 11" id="11"/>
          <p:cNvSpPr txBox="true"/>
          <p:nvPr/>
        </p:nvSpPr>
        <p:spPr>
          <a:xfrm rot="0">
            <a:off x="16430625" y="9401175"/>
            <a:ext cx="942975" cy="485775"/>
          </a:xfrm>
          <a:prstGeom prst="rect">
            <a:avLst/>
          </a:prstGeom>
        </p:spPr>
        <p:txBody>
          <a:bodyPr anchor="t" rtlCol="false" tIns="0" lIns="0" bIns="0" rIns="0">
            <a:spAutoFit/>
          </a:bodyPr>
          <a:lstStyle/>
          <a:p>
            <a:pPr algn="r">
              <a:lnSpc>
                <a:spcPts val="2970"/>
              </a:lnSpc>
            </a:pPr>
            <a:r>
              <a:rPr lang="en-US" sz="2250">
                <a:solidFill>
                  <a:srgbClr val="FFFFFF"/>
                </a:solidFill>
                <a:latin typeface="Rubik"/>
                <a:ea typeface="Rubik"/>
                <a:cs typeface="Rubik"/>
                <a:sym typeface="Rubik"/>
              </a:rPr>
              <a:t>03</a:t>
            </a:r>
          </a:p>
        </p:txBody>
      </p:sp>
      <p:grpSp>
        <p:nvGrpSpPr>
          <p:cNvPr name="Group 12" id="12"/>
          <p:cNvGrpSpPr/>
          <p:nvPr/>
        </p:nvGrpSpPr>
        <p:grpSpPr>
          <a:xfrm rot="0">
            <a:off x="914705" y="3114675"/>
            <a:ext cx="8343290" cy="5572125"/>
            <a:chOff x="0" y="0"/>
            <a:chExt cx="11124387" cy="7429500"/>
          </a:xfrm>
        </p:grpSpPr>
        <p:sp>
          <p:nvSpPr>
            <p:cNvPr name="Freeform 13" id="13"/>
            <p:cNvSpPr/>
            <p:nvPr/>
          </p:nvSpPr>
          <p:spPr>
            <a:xfrm flipH="false" flipV="false" rot="0">
              <a:off x="0" y="0"/>
              <a:ext cx="11124438" cy="7429500"/>
            </a:xfrm>
            <a:custGeom>
              <a:avLst/>
              <a:gdLst/>
              <a:ahLst/>
              <a:cxnLst/>
              <a:rect r="r" b="b" t="t" l="l"/>
              <a:pathLst>
                <a:path h="7429500" w="11124438">
                  <a:moveTo>
                    <a:pt x="0" y="0"/>
                  </a:moveTo>
                  <a:lnTo>
                    <a:pt x="11124438" y="0"/>
                  </a:lnTo>
                  <a:lnTo>
                    <a:pt x="11124438" y="7429500"/>
                  </a:lnTo>
                  <a:lnTo>
                    <a:pt x="0" y="7429500"/>
                  </a:lnTo>
                  <a:lnTo>
                    <a:pt x="0" y="0"/>
                  </a:lnTo>
                  <a:close/>
                </a:path>
              </a:pathLst>
            </a:custGeom>
            <a:blipFill>
              <a:blip r:embed="rId6"/>
              <a:stretch>
                <a:fillRect l="0" t="0" r="0" b="0"/>
              </a:stretch>
            </a:blipFill>
          </p:spPr>
        </p:sp>
      </p:grpSp>
      <p:sp>
        <p:nvSpPr>
          <p:cNvPr name="TextBox 14" id="14"/>
          <p:cNvSpPr txBox="true"/>
          <p:nvPr/>
        </p:nvSpPr>
        <p:spPr>
          <a:xfrm rot="0">
            <a:off x="9972675" y="3086100"/>
            <a:ext cx="7400925" cy="742950"/>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תוכנית רובוטיקה</a:t>
            </a:r>
          </a:p>
        </p:txBody>
      </p:sp>
      <p:sp>
        <p:nvSpPr>
          <p:cNvPr name="TextBox 15" id="15"/>
          <p:cNvSpPr txBox="true"/>
          <p:nvPr/>
        </p:nvSpPr>
        <p:spPr>
          <a:xfrm rot="0">
            <a:off x="9972675" y="3952875"/>
            <a:ext cx="7400925" cy="1047369"/>
          </a:xfrm>
          <a:prstGeom prst="rect">
            <a:avLst/>
          </a:prstGeom>
        </p:spPr>
        <p:txBody>
          <a:bodyPr anchor="t" rtlCol="false" tIns="0" lIns="0" bIns="0" rIns="0">
            <a:spAutoFit/>
          </a:bodyPr>
          <a:lstStyle/>
          <a:p>
            <a:pPr algn="r" rtl="true">
              <a:lnSpc>
                <a:spcPts val="4158"/>
              </a:lnSpc>
            </a:pPr>
            <a:r>
              <a:rPr lang="he-IL" sz="3150">
                <a:solidFill>
                  <a:srgbClr val="FFFFFF"/>
                </a:solidFill>
                <a:latin typeface="Rubik"/>
                <a:ea typeface="Rubik"/>
                <a:cs typeface="Rubik"/>
                <a:sym typeface="Rubik"/>
                <a:rtl val="true"/>
              </a:rPr>
              <a:t>משלבים את תהליך הלמידה בצורה פרקטית, ויזואלית ואיכותית</a:t>
            </a:r>
          </a:p>
        </p:txBody>
      </p:sp>
      <p:grpSp>
        <p:nvGrpSpPr>
          <p:cNvPr name="Group 16" id="16"/>
          <p:cNvGrpSpPr/>
          <p:nvPr/>
        </p:nvGrpSpPr>
        <p:grpSpPr>
          <a:xfrm rot="0">
            <a:off x="9972675" y="5246894"/>
            <a:ext cx="7400925" cy="14288"/>
            <a:chOff x="0" y="0"/>
            <a:chExt cx="9867900" cy="19050"/>
          </a:xfrm>
        </p:grpSpPr>
        <p:sp>
          <p:nvSpPr>
            <p:cNvPr name="Freeform 17" id="17"/>
            <p:cNvSpPr/>
            <p:nvPr/>
          </p:nvSpPr>
          <p:spPr>
            <a:xfrm flipH="false" flipV="false" rot="0">
              <a:off x="0" y="0"/>
              <a:ext cx="9867900" cy="19050"/>
            </a:xfrm>
            <a:custGeom>
              <a:avLst/>
              <a:gdLst/>
              <a:ahLst/>
              <a:cxnLst/>
              <a:rect r="r" b="b" t="t" l="l"/>
              <a:pathLst>
                <a:path h="19050" w="9867900">
                  <a:moveTo>
                    <a:pt x="0" y="0"/>
                  </a:moveTo>
                  <a:lnTo>
                    <a:pt x="9867900" y="0"/>
                  </a:lnTo>
                  <a:lnTo>
                    <a:pt x="9867900" y="19050"/>
                  </a:lnTo>
                  <a:lnTo>
                    <a:pt x="0" y="19050"/>
                  </a:lnTo>
                  <a:close/>
                </a:path>
              </a:pathLst>
            </a:custGeom>
            <a:solidFill>
              <a:srgbClr val="F4D3A0">
                <a:alpha val="17255"/>
              </a:srgbClr>
            </a:solidFill>
          </p:spPr>
        </p:sp>
      </p:grpSp>
      <p:sp>
        <p:nvSpPr>
          <p:cNvPr name="TextBox 18" id="18"/>
          <p:cNvSpPr txBox="true"/>
          <p:nvPr/>
        </p:nvSpPr>
        <p:spPr>
          <a:xfrm rot="0">
            <a:off x="9972675" y="5450681"/>
            <a:ext cx="7400925" cy="742950"/>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תחומי העשייה</a:t>
            </a:r>
          </a:p>
        </p:txBody>
      </p:sp>
      <p:sp>
        <p:nvSpPr>
          <p:cNvPr name="TextBox 19" id="19"/>
          <p:cNvSpPr txBox="true"/>
          <p:nvPr/>
        </p:nvSpPr>
        <p:spPr>
          <a:xfrm rot="0">
            <a:off x="9972675" y="6303169"/>
            <a:ext cx="7400925" cy="2618994"/>
          </a:xfrm>
          <a:prstGeom prst="rect">
            <a:avLst/>
          </a:prstGeom>
        </p:spPr>
        <p:txBody>
          <a:bodyPr anchor="t" rtlCol="false" tIns="0" lIns="0" bIns="0" rIns="0">
            <a:spAutoFit/>
          </a:bodyPr>
          <a:lstStyle/>
          <a:p>
            <a:pPr algn="r" rtl="true">
              <a:lnSpc>
                <a:spcPts val="4158"/>
              </a:lnSpc>
            </a:pPr>
            <a:r>
              <a:rPr lang="he-IL" sz="3150">
                <a:solidFill>
                  <a:srgbClr val="FFFFFF"/>
                </a:solidFill>
                <a:latin typeface="Rubik"/>
                <a:ea typeface="Rubik"/>
                <a:cs typeface="Rubik"/>
                <a:sym typeface="Rubik"/>
                <a:rtl val="true"/>
              </a:rPr>
              <a:t>רובוטיקה, </a:t>
            </a:r>
            <a:r>
              <a:rPr lang="he-IL" sz="3150">
                <a:solidFill>
                  <a:srgbClr val="FFFFFF"/>
                </a:solidFill>
                <a:latin typeface="Rubik"/>
                <a:ea typeface="Rubik"/>
                <a:cs typeface="Rubik"/>
                <a:sym typeface="Rubik"/>
                <a:rtl val="true"/>
              </a:rPr>
              <a:t>אלקטרוניקה, חשמל ומכניקה</a:t>
            </a:r>
          </a:p>
          <a:p>
            <a:pPr algn="r" rtl="true">
              <a:lnSpc>
                <a:spcPts val="4158"/>
              </a:lnSpc>
            </a:pPr>
            <a:r>
              <a:rPr lang="he-IL" sz="3150">
                <a:solidFill>
                  <a:srgbClr val="FFFFFF"/>
                </a:solidFill>
                <a:latin typeface="Rubik"/>
                <a:ea typeface="Rubik"/>
                <a:cs typeface="Rubik"/>
                <a:sym typeface="Rubik"/>
                <a:rtl val="true"/>
              </a:rPr>
              <a:t>שרטוט ובינה מלאכותית (</a:t>
            </a:r>
            <a:r>
              <a:rPr lang="en-US" sz="3150">
                <a:solidFill>
                  <a:srgbClr val="FFFFFF"/>
                </a:solidFill>
                <a:latin typeface="Rubik"/>
                <a:ea typeface="Rubik"/>
                <a:cs typeface="Rubik"/>
                <a:sym typeface="Rubik"/>
              </a:rPr>
              <a:t>AI</a:t>
            </a:r>
            <a:r>
              <a:rPr lang="ar-EG" sz="3150">
                <a:solidFill>
                  <a:srgbClr val="FFFFFF"/>
                </a:solidFill>
                <a:latin typeface="Rubik"/>
                <a:ea typeface="Rubik"/>
                <a:cs typeface="Rubik"/>
                <a:sym typeface="Rubik"/>
                <a:rtl val="true"/>
              </a:rPr>
              <a:t>)</a:t>
            </a:r>
          </a:p>
          <a:p>
            <a:pPr algn="r" rtl="true">
              <a:lnSpc>
                <a:spcPts val="4158"/>
              </a:lnSpc>
            </a:pPr>
            <a:r>
              <a:rPr lang="he-IL" sz="3150">
                <a:solidFill>
                  <a:srgbClr val="FFFFFF"/>
                </a:solidFill>
                <a:latin typeface="Rubik"/>
                <a:ea typeface="Rubik"/>
                <a:cs typeface="Rubik"/>
                <a:sym typeface="Rubik"/>
                <a:rtl val="true"/>
              </a:rPr>
              <a:t>הדפסה בתלת־ממד</a:t>
            </a:r>
          </a:p>
          <a:p>
            <a:pPr algn="r" rtl="true">
              <a:lnSpc>
                <a:spcPts val="4158"/>
              </a:lnSpc>
            </a:pPr>
            <a:r>
              <a:rPr lang="he-IL" sz="3150">
                <a:solidFill>
                  <a:srgbClr val="FFFFFF"/>
                </a:solidFill>
                <a:latin typeface="Rubik"/>
                <a:ea typeface="Rubik"/>
                <a:cs typeface="Rubik"/>
                <a:sym typeface="Rubik"/>
                <a:rtl val="true"/>
              </a:rPr>
              <a:t>מה שיעניק לכם הרבה מאוד ניסיון ויכין אתכם לצבא ולעולם האמיתי</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400300" y="861346"/>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4"/>
              <a:stretch>
                <a:fillRect l="0" t="0" r="0" b="-1"/>
              </a:stretch>
            </a:blipFill>
          </p:spPr>
        </p:sp>
      </p:grpSp>
      <p:grpSp>
        <p:nvGrpSpPr>
          <p:cNvPr name="Group 6" id="6"/>
          <p:cNvGrpSpPr/>
          <p:nvPr/>
        </p:nvGrpSpPr>
        <p:grpSpPr>
          <a:xfrm rot="0">
            <a:off x="914400" y="2471738"/>
            <a:ext cx="16459200" cy="14288"/>
            <a:chOff x="0" y="0"/>
            <a:chExt cx="21945600" cy="19050"/>
          </a:xfrm>
        </p:grpSpPr>
        <p:sp>
          <p:nvSpPr>
            <p:cNvPr name="Freeform 7" id="7"/>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F4D3A0">
                <a:alpha val="17255"/>
              </a:srgbClr>
            </a:solidFill>
          </p:spPr>
        </p:sp>
      </p:grpSp>
      <p:grpSp>
        <p:nvGrpSpPr>
          <p:cNvPr name="Group 8" id="8"/>
          <p:cNvGrpSpPr/>
          <p:nvPr/>
        </p:nvGrpSpPr>
        <p:grpSpPr>
          <a:xfrm rot="0">
            <a:off x="914400" y="9320974"/>
            <a:ext cx="3400425" cy="474736"/>
            <a:chOff x="0" y="0"/>
            <a:chExt cx="4533900" cy="632981"/>
          </a:xfrm>
        </p:grpSpPr>
        <p:sp>
          <p:nvSpPr>
            <p:cNvPr name="Freeform 9" id="9"/>
            <p:cNvSpPr/>
            <p:nvPr/>
          </p:nvSpPr>
          <p:spPr>
            <a:xfrm flipH="false" flipV="false" rot="0">
              <a:off x="0" y="0"/>
              <a:ext cx="4533900" cy="632968"/>
            </a:xfrm>
            <a:custGeom>
              <a:avLst/>
              <a:gdLst/>
              <a:ahLst/>
              <a:cxnLst/>
              <a:rect r="r" b="b" t="t" l="l"/>
              <a:pathLst>
                <a:path h="632968" w="4533900">
                  <a:moveTo>
                    <a:pt x="0" y="0"/>
                  </a:moveTo>
                  <a:lnTo>
                    <a:pt x="4533900" y="0"/>
                  </a:lnTo>
                  <a:lnTo>
                    <a:pt x="4533900" y="632968"/>
                  </a:lnTo>
                  <a:lnTo>
                    <a:pt x="0" y="632968"/>
                  </a:lnTo>
                  <a:lnTo>
                    <a:pt x="0" y="0"/>
                  </a:lnTo>
                  <a:close/>
                </a:path>
              </a:pathLst>
            </a:custGeom>
            <a:blipFill>
              <a:blip r:embed="rId5"/>
              <a:stretch>
                <a:fillRect l="0" t="0" r="0" b="-2"/>
              </a:stretch>
            </a:blipFill>
          </p:spPr>
        </p:sp>
      </p:grpSp>
      <p:grpSp>
        <p:nvGrpSpPr>
          <p:cNvPr name="Group 10" id="10"/>
          <p:cNvGrpSpPr/>
          <p:nvPr/>
        </p:nvGrpSpPr>
        <p:grpSpPr>
          <a:xfrm rot="0">
            <a:off x="9144000" y="3143250"/>
            <a:ext cx="14288" cy="5200650"/>
            <a:chOff x="0" y="0"/>
            <a:chExt cx="19050" cy="6934200"/>
          </a:xfrm>
        </p:grpSpPr>
        <p:sp>
          <p:nvSpPr>
            <p:cNvPr name="Freeform 11" id="11"/>
            <p:cNvSpPr/>
            <p:nvPr/>
          </p:nvSpPr>
          <p:spPr>
            <a:xfrm flipH="false" flipV="false" rot="0">
              <a:off x="0" y="0"/>
              <a:ext cx="19050" cy="6934200"/>
            </a:xfrm>
            <a:custGeom>
              <a:avLst/>
              <a:gdLst/>
              <a:ahLst/>
              <a:cxnLst/>
              <a:rect r="r" b="b" t="t" l="l"/>
              <a:pathLst>
                <a:path h="6934200" w="19050">
                  <a:moveTo>
                    <a:pt x="0" y="0"/>
                  </a:moveTo>
                  <a:lnTo>
                    <a:pt x="19050" y="0"/>
                  </a:lnTo>
                  <a:lnTo>
                    <a:pt x="19050" y="6934200"/>
                  </a:lnTo>
                  <a:lnTo>
                    <a:pt x="0" y="6934200"/>
                  </a:lnTo>
                  <a:close/>
                </a:path>
              </a:pathLst>
            </a:custGeom>
            <a:solidFill>
              <a:srgbClr val="F4D3A0">
                <a:alpha val="17255"/>
              </a:srgbClr>
            </a:solidFill>
          </p:spPr>
        </p:sp>
      </p:grpSp>
      <p:grpSp>
        <p:nvGrpSpPr>
          <p:cNvPr name="Group 12" id="12"/>
          <p:cNvGrpSpPr/>
          <p:nvPr/>
        </p:nvGrpSpPr>
        <p:grpSpPr>
          <a:xfrm rot="0">
            <a:off x="14330362" y="6815138"/>
            <a:ext cx="2857500" cy="2143125"/>
            <a:chOff x="0" y="0"/>
            <a:chExt cx="3810000" cy="2857500"/>
          </a:xfrm>
        </p:grpSpPr>
        <p:sp>
          <p:nvSpPr>
            <p:cNvPr name="Freeform 13" id="13"/>
            <p:cNvSpPr/>
            <p:nvPr/>
          </p:nvSpPr>
          <p:spPr>
            <a:xfrm flipH="false" flipV="false" rot="0">
              <a:off x="0" y="0"/>
              <a:ext cx="3810000" cy="2857500"/>
            </a:xfrm>
            <a:custGeom>
              <a:avLst/>
              <a:gdLst/>
              <a:ahLst/>
              <a:cxnLst/>
              <a:rect r="r" b="b" t="t" l="l"/>
              <a:pathLst>
                <a:path h="2857500" w="3810000">
                  <a:moveTo>
                    <a:pt x="0" y="0"/>
                  </a:moveTo>
                  <a:lnTo>
                    <a:pt x="3810000" y="0"/>
                  </a:lnTo>
                  <a:lnTo>
                    <a:pt x="3810000" y="2857500"/>
                  </a:lnTo>
                  <a:lnTo>
                    <a:pt x="0" y="2857500"/>
                  </a:lnTo>
                  <a:lnTo>
                    <a:pt x="0" y="0"/>
                  </a:lnTo>
                  <a:close/>
                </a:path>
              </a:pathLst>
            </a:custGeom>
            <a:blipFill>
              <a:blip r:embed="rId6"/>
              <a:stretch>
                <a:fillRect l="0" t="0" r="0" b="0"/>
              </a:stretch>
            </a:blipFill>
          </p:spPr>
        </p:sp>
      </p:grpSp>
      <p:grpSp>
        <p:nvGrpSpPr>
          <p:cNvPr name="Group 14" id="14"/>
          <p:cNvGrpSpPr/>
          <p:nvPr/>
        </p:nvGrpSpPr>
        <p:grpSpPr>
          <a:xfrm rot="0">
            <a:off x="2857500" y="7448550"/>
            <a:ext cx="5622392" cy="1236323"/>
            <a:chOff x="0" y="0"/>
            <a:chExt cx="1480795" cy="325616"/>
          </a:xfrm>
        </p:grpSpPr>
        <p:sp>
          <p:nvSpPr>
            <p:cNvPr name="Freeform 15" id="15"/>
            <p:cNvSpPr/>
            <p:nvPr/>
          </p:nvSpPr>
          <p:spPr>
            <a:xfrm flipH="false" flipV="false" rot="0">
              <a:off x="0" y="0"/>
              <a:ext cx="1480795" cy="325616"/>
            </a:xfrm>
            <a:custGeom>
              <a:avLst/>
              <a:gdLst/>
              <a:ahLst/>
              <a:cxnLst/>
              <a:rect r="r" b="b" t="t" l="l"/>
              <a:pathLst>
                <a:path h="325616" w="1480795">
                  <a:moveTo>
                    <a:pt x="0" y="0"/>
                  </a:moveTo>
                  <a:lnTo>
                    <a:pt x="1480795" y="0"/>
                  </a:lnTo>
                  <a:lnTo>
                    <a:pt x="1480795" y="325616"/>
                  </a:lnTo>
                  <a:lnTo>
                    <a:pt x="0" y="325616"/>
                  </a:lnTo>
                  <a:close/>
                </a:path>
              </a:pathLst>
            </a:custGeom>
            <a:solidFill>
              <a:srgbClr val="C8D1D9"/>
            </a:solidFill>
          </p:spPr>
        </p:sp>
        <p:sp>
          <p:nvSpPr>
            <p:cNvPr name="TextBox 16" id="16"/>
            <p:cNvSpPr txBox="true"/>
            <p:nvPr/>
          </p:nvSpPr>
          <p:spPr>
            <a:xfrm>
              <a:off x="0" y="-76200"/>
              <a:ext cx="1480795" cy="401816"/>
            </a:xfrm>
            <a:prstGeom prst="rect">
              <a:avLst/>
            </a:prstGeom>
          </p:spPr>
          <p:txBody>
            <a:bodyPr anchor="ctr" rtlCol="false" tIns="50800" lIns="50800" bIns="50800" rIns="50800"/>
            <a:lstStyle/>
            <a:p>
              <a:pPr algn="ctr" rtl="true" marL="0" indent="0" lvl="0">
                <a:lnSpc>
                  <a:spcPts val="5879"/>
                </a:lnSpc>
                <a:spcBef>
                  <a:spcPct val="0"/>
                </a:spcBef>
              </a:pPr>
              <a:r>
                <a:rPr lang="he-IL" sz="4199" strike="noStrike" u="sng">
                  <a:solidFill>
                    <a:srgbClr val="000000"/>
                  </a:solidFill>
                  <a:latin typeface="Canva Sans"/>
                  <a:ea typeface="Canva Sans"/>
                  <a:cs typeface="Canva Sans"/>
                  <a:sym typeface="Canva Sans"/>
                  <a:hlinkClick r:id="rId7" tooltip="https://www.youtube.com/watch?v=_fybREErgyM"/>
                  <a:rtl val="true"/>
                </a:rPr>
                <a:t>המשחק של עונת </a:t>
              </a:r>
              <a:r>
                <a:rPr lang="en-US" sz="4199" strike="noStrike" u="sng">
                  <a:solidFill>
                    <a:srgbClr val="000000"/>
                  </a:solidFill>
                  <a:latin typeface="Canva Sans"/>
                  <a:ea typeface="Canva Sans"/>
                  <a:cs typeface="Canva Sans"/>
                  <a:sym typeface="Canva Sans"/>
                  <a:hlinkClick r:id="rId8" tooltip="https://www.youtube.com/watch?v=_fybREErgyM"/>
                </a:rPr>
                <a:t>2026</a:t>
              </a:r>
            </a:p>
          </p:txBody>
        </p:sp>
      </p:grpSp>
      <p:sp>
        <p:nvSpPr>
          <p:cNvPr name="TextBox 17" id="17"/>
          <p:cNvSpPr txBox="true"/>
          <p:nvPr/>
        </p:nvSpPr>
        <p:spPr>
          <a:xfrm rot="0">
            <a:off x="3071812" y="771525"/>
            <a:ext cx="14301788" cy="1002792"/>
          </a:xfrm>
          <a:prstGeom prst="rect">
            <a:avLst/>
          </a:prstGeom>
        </p:spPr>
        <p:txBody>
          <a:bodyPr anchor="t" rtlCol="false" tIns="0" lIns="0" bIns="0" rIns="0">
            <a:spAutoFit/>
          </a:bodyPr>
          <a:lstStyle/>
          <a:p>
            <a:pPr algn="r" rtl="true">
              <a:lnSpc>
                <a:spcPts val="8019"/>
              </a:lnSpc>
            </a:pPr>
            <a:r>
              <a:rPr lang="en-US" b="true" sz="6075">
                <a:solidFill>
                  <a:srgbClr val="FFFFFF"/>
                </a:solidFill>
                <a:latin typeface="Rubik Bold"/>
                <a:ea typeface="Rubik Bold"/>
                <a:cs typeface="Rubik Bold"/>
                <a:sym typeface="Rubik Bold"/>
              </a:rPr>
              <a:t>FIRST</a:t>
            </a:r>
            <a:r>
              <a:rPr lang="he-IL" b="true" sz="6075">
                <a:solidFill>
                  <a:srgbClr val="FFFFFF"/>
                </a:solidFill>
                <a:latin typeface="Rubik Bold"/>
                <a:ea typeface="Rubik Bold"/>
                <a:cs typeface="Rubik Bold"/>
                <a:sym typeface="Rubik Bold"/>
                <a:rtl val="true"/>
              </a:rPr>
              <a:t> ו-</a:t>
            </a:r>
            <a:r>
              <a:rPr lang="en-US" b="true" sz="6075">
                <a:solidFill>
                  <a:srgbClr val="FFFFFF"/>
                </a:solidFill>
                <a:latin typeface="Rubik Bold"/>
                <a:ea typeface="Rubik Bold"/>
                <a:cs typeface="Rubik Bold"/>
                <a:sym typeface="Rubik Bold"/>
              </a:rPr>
              <a:t>FRC</a:t>
            </a:r>
          </a:p>
        </p:txBody>
      </p:sp>
      <p:sp>
        <p:nvSpPr>
          <p:cNvPr name="TextBox 18" id="18"/>
          <p:cNvSpPr txBox="true"/>
          <p:nvPr/>
        </p:nvSpPr>
        <p:spPr>
          <a:xfrm rot="0">
            <a:off x="16430625" y="9401175"/>
            <a:ext cx="942975" cy="485775"/>
          </a:xfrm>
          <a:prstGeom prst="rect">
            <a:avLst/>
          </a:prstGeom>
        </p:spPr>
        <p:txBody>
          <a:bodyPr anchor="t" rtlCol="false" tIns="0" lIns="0" bIns="0" rIns="0">
            <a:spAutoFit/>
          </a:bodyPr>
          <a:lstStyle/>
          <a:p>
            <a:pPr algn="r">
              <a:lnSpc>
                <a:spcPts val="2970"/>
              </a:lnSpc>
            </a:pPr>
            <a:r>
              <a:rPr lang="en-US" sz="2250">
                <a:solidFill>
                  <a:srgbClr val="FFFFFF"/>
                </a:solidFill>
                <a:latin typeface="Rubik"/>
                <a:ea typeface="Rubik"/>
                <a:cs typeface="Rubik"/>
                <a:sym typeface="Rubik"/>
              </a:rPr>
              <a:t>05</a:t>
            </a:r>
          </a:p>
        </p:txBody>
      </p:sp>
      <p:sp>
        <p:nvSpPr>
          <p:cNvPr name="TextBox 19" id="19"/>
          <p:cNvSpPr txBox="true"/>
          <p:nvPr/>
        </p:nvSpPr>
        <p:spPr>
          <a:xfrm rot="0">
            <a:off x="10044112" y="3095625"/>
            <a:ext cx="7329488" cy="1004888"/>
          </a:xfrm>
          <a:prstGeom prst="rect">
            <a:avLst/>
          </a:prstGeom>
        </p:spPr>
        <p:txBody>
          <a:bodyPr anchor="t" rtlCol="false" tIns="0" lIns="0" bIns="0" rIns="0">
            <a:spAutoFit/>
          </a:bodyPr>
          <a:lstStyle/>
          <a:p>
            <a:pPr algn="r">
              <a:lnSpc>
                <a:spcPts val="7128"/>
              </a:lnSpc>
            </a:pPr>
            <a:r>
              <a:rPr lang="en-US" sz="5400" b="true">
                <a:solidFill>
                  <a:srgbClr val="FFFFFF"/>
                </a:solidFill>
                <a:latin typeface="Rubik Bold"/>
                <a:ea typeface="Rubik Bold"/>
                <a:cs typeface="Rubik Bold"/>
                <a:sym typeface="Rubik Bold"/>
              </a:rPr>
              <a:t>FIRST</a:t>
            </a:r>
          </a:p>
        </p:txBody>
      </p:sp>
      <p:sp>
        <p:nvSpPr>
          <p:cNvPr name="TextBox 20" id="20"/>
          <p:cNvSpPr txBox="true"/>
          <p:nvPr/>
        </p:nvSpPr>
        <p:spPr>
          <a:xfrm rot="0">
            <a:off x="10044112" y="4295775"/>
            <a:ext cx="7329488" cy="833437"/>
          </a:xfrm>
          <a:prstGeom prst="rect">
            <a:avLst/>
          </a:prstGeom>
        </p:spPr>
        <p:txBody>
          <a:bodyPr anchor="t" rtlCol="false" tIns="0" lIns="0" bIns="0" rIns="0">
            <a:spAutoFit/>
          </a:bodyPr>
          <a:lstStyle/>
          <a:p>
            <a:pPr algn="r" rtl="true">
              <a:lnSpc>
                <a:spcPts val="4752"/>
              </a:lnSpc>
            </a:pPr>
            <a:r>
              <a:rPr lang="he-IL" b="true" sz="3600">
                <a:solidFill>
                  <a:srgbClr val="FFFFFF"/>
                </a:solidFill>
                <a:latin typeface="Rubik Bold"/>
                <a:ea typeface="Rubik Bold"/>
                <a:cs typeface="Rubik Bold"/>
                <a:sym typeface="Rubik Bold"/>
                <a:rtl val="true"/>
              </a:rPr>
              <a:t>הארגון שמאחורי התוכניות</a:t>
            </a:r>
          </a:p>
        </p:txBody>
      </p:sp>
      <p:sp>
        <p:nvSpPr>
          <p:cNvPr name="TextBox 21" id="21"/>
          <p:cNvSpPr txBox="true"/>
          <p:nvPr/>
        </p:nvSpPr>
        <p:spPr>
          <a:xfrm rot="0">
            <a:off x="914400" y="3095625"/>
            <a:ext cx="7329488" cy="1004888"/>
          </a:xfrm>
          <a:prstGeom prst="rect">
            <a:avLst/>
          </a:prstGeom>
        </p:spPr>
        <p:txBody>
          <a:bodyPr anchor="t" rtlCol="false" tIns="0" lIns="0" bIns="0" rIns="0">
            <a:spAutoFit/>
          </a:bodyPr>
          <a:lstStyle/>
          <a:p>
            <a:pPr algn="l">
              <a:lnSpc>
                <a:spcPts val="7128"/>
              </a:lnSpc>
            </a:pPr>
            <a:r>
              <a:rPr lang="en-US" sz="5400" b="true">
                <a:solidFill>
                  <a:srgbClr val="FFFFFF"/>
                </a:solidFill>
                <a:latin typeface="Rubik Bold"/>
                <a:ea typeface="Rubik Bold"/>
                <a:cs typeface="Rubik Bold"/>
                <a:sym typeface="Rubik Bold"/>
              </a:rPr>
              <a:t>FRC</a:t>
            </a:r>
          </a:p>
        </p:txBody>
      </p:sp>
      <p:sp>
        <p:nvSpPr>
          <p:cNvPr name="TextBox 22" id="22"/>
          <p:cNvSpPr txBox="true"/>
          <p:nvPr/>
        </p:nvSpPr>
        <p:spPr>
          <a:xfrm rot="0">
            <a:off x="914400" y="4295775"/>
            <a:ext cx="7329488" cy="833437"/>
          </a:xfrm>
          <a:prstGeom prst="rect">
            <a:avLst/>
          </a:prstGeom>
        </p:spPr>
        <p:txBody>
          <a:bodyPr anchor="t" rtlCol="false" tIns="0" lIns="0" bIns="0" rIns="0">
            <a:spAutoFit/>
          </a:bodyPr>
          <a:lstStyle/>
          <a:p>
            <a:pPr algn="l">
              <a:lnSpc>
                <a:spcPts val="4455"/>
              </a:lnSpc>
            </a:pPr>
            <a:r>
              <a:rPr lang="en-US" sz="3375" b="true">
                <a:solidFill>
                  <a:srgbClr val="FFFFFF"/>
                </a:solidFill>
                <a:latin typeface="Rubik Bold"/>
                <a:ea typeface="Rubik Bold"/>
                <a:cs typeface="Rubik Bold"/>
                <a:sym typeface="Rubik Bold"/>
              </a:rPr>
              <a:t>FIRST Robotics Competition</a:t>
            </a:r>
          </a:p>
        </p:txBody>
      </p:sp>
      <p:sp>
        <p:nvSpPr>
          <p:cNvPr name="TextBox 23" id="23"/>
          <p:cNvSpPr txBox="true"/>
          <p:nvPr/>
        </p:nvSpPr>
        <p:spPr>
          <a:xfrm rot="0">
            <a:off x="10044112" y="5338763"/>
            <a:ext cx="7329488" cy="1362075"/>
          </a:xfrm>
          <a:prstGeom prst="rect">
            <a:avLst/>
          </a:prstGeom>
        </p:spPr>
        <p:txBody>
          <a:bodyPr anchor="t" rtlCol="false" tIns="0" lIns="0" bIns="0" rIns="0">
            <a:spAutoFit/>
          </a:bodyPr>
          <a:lstStyle/>
          <a:p>
            <a:pPr algn="r" rtl="true">
              <a:lnSpc>
                <a:spcPts val="4158"/>
              </a:lnSpc>
            </a:pPr>
            <a:r>
              <a:rPr lang="he-IL" sz="3150">
                <a:solidFill>
                  <a:srgbClr val="FFFFFF"/>
                </a:solidFill>
                <a:latin typeface="Rubik"/>
                <a:ea typeface="Rubik"/>
                <a:cs typeface="Rubik"/>
                <a:sym typeface="Rubik"/>
                <a:rtl val="true"/>
              </a:rPr>
              <a:t>ארגון בינלאומי שמחבר בני נוער</a:t>
            </a:r>
          </a:p>
          <a:p>
            <a:pPr algn="r" rtl="true">
              <a:lnSpc>
                <a:spcPts val="4158"/>
              </a:lnSpc>
            </a:pPr>
            <a:r>
              <a:rPr lang="he-IL" sz="3150">
                <a:solidFill>
                  <a:srgbClr val="FFFFFF"/>
                </a:solidFill>
                <a:latin typeface="Rubik"/>
                <a:ea typeface="Rubik"/>
                <a:cs typeface="Rubik"/>
                <a:sym typeface="Rubik"/>
                <a:rtl val="true"/>
              </a:rPr>
              <a:t>למדע ולטכנולוגיה דרך רובוטיקה.</a:t>
            </a:r>
          </a:p>
        </p:txBody>
      </p:sp>
      <p:sp>
        <p:nvSpPr>
          <p:cNvPr name="TextBox 24" id="24"/>
          <p:cNvSpPr txBox="true"/>
          <p:nvPr/>
        </p:nvSpPr>
        <p:spPr>
          <a:xfrm rot="0">
            <a:off x="914400" y="5338763"/>
            <a:ext cx="7329488" cy="1862137"/>
          </a:xfrm>
          <a:prstGeom prst="rect">
            <a:avLst/>
          </a:prstGeom>
        </p:spPr>
        <p:txBody>
          <a:bodyPr anchor="t" rtlCol="false" tIns="0" lIns="0" bIns="0" rIns="0">
            <a:spAutoFit/>
          </a:bodyPr>
          <a:lstStyle/>
          <a:p>
            <a:pPr algn="r" rtl="true">
              <a:lnSpc>
                <a:spcPts val="4158"/>
              </a:lnSpc>
            </a:pPr>
            <a:r>
              <a:rPr lang="he-IL" sz="3150">
                <a:solidFill>
                  <a:srgbClr val="FFFFFF"/>
                </a:solidFill>
                <a:latin typeface="Rubik"/>
                <a:ea typeface="Rubik"/>
                <a:cs typeface="Rubik"/>
                <a:sym typeface="Rubik"/>
                <a:rtl val="true"/>
              </a:rPr>
              <a:t>בכל שנה מתפרסם אתגר חדש.</a:t>
            </a:r>
          </a:p>
          <a:p>
            <a:pPr algn="r" rtl="true">
              <a:lnSpc>
                <a:spcPts val="4158"/>
              </a:lnSpc>
            </a:pPr>
            <a:r>
              <a:rPr lang="he-IL" sz="3150">
                <a:solidFill>
                  <a:srgbClr val="FFFFFF"/>
                </a:solidFill>
                <a:latin typeface="Rubik"/>
                <a:ea typeface="Rubik"/>
                <a:cs typeface="Rubik"/>
                <a:sym typeface="Rubik"/>
                <a:rtl val="true"/>
              </a:rPr>
              <a:t>תלמידי תיכון מתכננים, בונים</a:t>
            </a:r>
          </a:p>
          <a:p>
            <a:pPr algn="r" rtl="true">
              <a:lnSpc>
                <a:spcPts val="4158"/>
              </a:lnSpc>
            </a:pPr>
            <a:r>
              <a:rPr lang="he-IL" sz="3150">
                <a:solidFill>
                  <a:srgbClr val="FFFFFF"/>
                </a:solidFill>
                <a:latin typeface="Rubik"/>
                <a:ea typeface="Rubik"/>
                <a:cs typeface="Rubik"/>
                <a:sym typeface="Rubik"/>
                <a:rtl val="true"/>
              </a:rPr>
              <a:t>ומתכנתים רובוט למשימות המשחק.</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0" y="4015"/>
            <a:ext cx="18288000" cy="1027897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0" y="4015"/>
            <a:ext cx="18295144" cy="10282985"/>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0" y="4015"/>
            <a:ext cx="18295144" cy="10282985"/>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220616" y="882203"/>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3"/>
              <a:stretch>
                <a:fillRect l="0" t="0" r="0" b="-1"/>
              </a:stretch>
            </a:blipFill>
          </p:spPr>
        </p:sp>
      </p:grpSp>
      <p:sp>
        <p:nvSpPr>
          <p:cNvPr name="TextBox 6" id="6"/>
          <p:cNvSpPr txBox="true"/>
          <p:nvPr/>
        </p:nvSpPr>
        <p:spPr>
          <a:xfrm rot="0">
            <a:off x="3051522" y="796478"/>
            <a:ext cx="14301788" cy="1002792"/>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מה מקבלים בתוכנית </a:t>
            </a:r>
            <a:r>
              <a:rPr lang="en-US" b="true" sz="6075">
                <a:solidFill>
                  <a:srgbClr val="FFFFFF"/>
                </a:solidFill>
                <a:latin typeface="Rubik Bold"/>
                <a:ea typeface="Rubik Bold"/>
                <a:cs typeface="Rubik Bold"/>
                <a:sym typeface="Rubik Bold"/>
              </a:rPr>
              <a:t>Da Vinci</a:t>
            </a:r>
          </a:p>
        </p:txBody>
      </p:sp>
      <p:sp>
        <p:nvSpPr>
          <p:cNvPr name="TextBox 7" id="7"/>
          <p:cNvSpPr txBox="true"/>
          <p:nvPr/>
        </p:nvSpPr>
        <p:spPr>
          <a:xfrm rot="0">
            <a:off x="3984850" y="2458896"/>
            <a:ext cx="13274450" cy="4821173"/>
          </a:xfrm>
          <a:prstGeom prst="rect">
            <a:avLst/>
          </a:prstGeom>
        </p:spPr>
        <p:txBody>
          <a:bodyPr anchor="t" rtlCol="false" tIns="0" lIns="0" bIns="0" rIns="0">
            <a:spAutoFit/>
          </a:bodyPr>
          <a:lstStyle/>
          <a:p>
            <a:pPr algn="r" rtl="true" marL="741528" indent="-370764" lvl="1">
              <a:lnSpc>
                <a:spcPts val="4808"/>
              </a:lnSpc>
              <a:buFont typeface="Arial"/>
              <a:buChar char="•"/>
            </a:pPr>
            <a:r>
              <a:rPr lang="he-IL" b="true" sz="3434">
                <a:solidFill>
                  <a:srgbClr val="FFFFFF"/>
                </a:solidFill>
                <a:latin typeface="Canva Sans Bold"/>
                <a:ea typeface="Canva Sans Bold"/>
                <a:cs typeface="Canva Sans Bold"/>
                <a:sym typeface="Canva Sans Bold"/>
                <a:rtl val="true"/>
              </a:rPr>
              <a:t>בגרות ברמת </a:t>
            </a:r>
            <a:r>
              <a:rPr lang="en-US" b="true" sz="3434">
                <a:solidFill>
                  <a:srgbClr val="FFFFFF"/>
                </a:solidFill>
                <a:latin typeface="Canva Sans Bold"/>
                <a:ea typeface="Canva Sans Bold"/>
                <a:cs typeface="Canva Sans Bold"/>
                <a:sym typeface="Canva Sans Bold"/>
              </a:rPr>
              <a:t>5</a:t>
            </a:r>
            <a:r>
              <a:rPr lang="he-IL" b="true" sz="3434">
                <a:solidFill>
                  <a:srgbClr val="FFFFFF"/>
                </a:solidFill>
                <a:latin typeface="Canva Sans Bold"/>
                <a:ea typeface="Canva Sans Bold"/>
                <a:cs typeface="Canva Sans Bold"/>
                <a:sym typeface="Canva Sans Bold"/>
                <a:rtl val="true"/>
              </a:rPr>
              <a:t> יח״ל במכטרוניקה</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ניסיון מעשי בתכנון, בנייה תכנות, שיווק וחשמל </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מחוייבות אישית </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היכרות עם עולם ההנדסה </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הזדמנויות למלגות </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הכנה ללימודים ולהשתלבות בעתיד בעולם הטכנולוגי וההנדסי</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השתתפות בתחרויות בארץ, עם אפשרות למשלחות בחו״ל</a:t>
            </a:r>
          </a:p>
          <a:p>
            <a:pPr algn="r" rtl="true" marL="741528" indent="-370764" lvl="1">
              <a:lnSpc>
                <a:spcPts val="4808"/>
              </a:lnSpc>
              <a:spcBef>
                <a:spcPct val="0"/>
              </a:spcBef>
              <a:buFont typeface="Arial"/>
              <a:buChar char="•"/>
            </a:pPr>
            <a:r>
              <a:rPr lang="he-IL" b="true" sz="3434">
                <a:solidFill>
                  <a:srgbClr val="FFFFFF"/>
                </a:solidFill>
                <a:latin typeface="Canva Sans Bold"/>
                <a:ea typeface="Canva Sans Bold"/>
                <a:cs typeface="Canva Sans Bold"/>
                <a:sym typeface="Canva Sans Bold"/>
                <a:rtl val="true"/>
              </a:rPr>
              <a:t>חברים, חוויות, והרבה מאוד הפתעות</a:t>
            </a:r>
          </a:p>
        </p:txBody>
      </p:sp>
      <p:sp>
        <p:nvSpPr>
          <p:cNvPr name="Freeform 8" id="8"/>
          <p:cNvSpPr/>
          <p:nvPr/>
        </p:nvSpPr>
        <p:spPr>
          <a:xfrm flipH="false" flipV="false" rot="0">
            <a:off x="14985836" y="7280069"/>
            <a:ext cx="2273464" cy="2273464"/>
          </a:xfrm>
          <a:custGeom>
            <a:avLst/>
            <a:gdLst/>
            <a:ahLst/>
            <a:cxnLst/>
            <a:rect r="r" b="b" t="t" l="l"/>
            <a:pathLst>
              <a:path h="2273464" w="2273464">
                <a:moveTo>
                  <a:pt x="0" y="0"/>
                </a:moveTo>
                <a:lnTo>
                  <a:pt x="2273464" y="0"/>
                </a:lnTo>
                <a:lnTo>
                  <a:pt x="2273464" y="2273464"/>
                </a:lnTo>
                <a:lnTo>
                  <a:pt x="0" y="2273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385511" y="7280069"/>
            <a:ext cx="2273464" cy="2273464"/>
          </a:xfrm>
          <a:custGeom>
            <a:avLst/>
            <a:gdLst/>
            <a:ahLst/>
            <a:cxnLst/>
            <a:rect r="r" b="b" t="t" l="l"/>
            <a:pathLst>
              <a:path h="2273464" w="2273464">
                <a:moveTo>
                  <a:pt x="0" y="0"/>
                </a:moveTo>
                <a:lnTo>
                  <a:pt x="2273465" y="0"/>
                </a:lnTo>
                <a:lnTo>
                  <a:pt x="2273465" y="2273464"/>
                </a:lnTo>
                <a:lnTo>
                  <a:pt x="0" y="22734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7785187" y="7280069"/>
            <a:ext cx="2273464" cy="2273464"/>
          </a:xfrm>
          <a:custGeom>
            <a:avLst/>
            <a:gdLst/>
            <a:ahLst/>
            <a:cxnLst/>
            <a:rect r="r" b="b" t="t" l="l"/>
            <a:pathLst>
              <a:path h="2273464" w="2273464">
                <a:moveTo>
                  <a:pt x="0" y="0"/>
                </a:moveTo>
                <a:lnTo>
                  <a:pt x="2273464" y="0"/>
                </a:lnTo>
                <a:lnTo>
                  <a:pt x="2273464" y="2273464"/>
                </a:lnTo>
                <a:lnTo>
                  <a:pt x="0" y="22734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184862" y="7280069"/>
            <a:ext cx="2273464" cy="2273464"/>
          </a:xfrm>
          <a:custGeom>
            <a:avLst/>
            <a:gdLst/>
            <a:ahLst/>
            <a:cxnLst/>
            <a:rect r="r" b="b" t="t" l="l"/>
            <a:pathLst>
              <a:path h="2273464" w="2273464">
                <a:moveTo>
                  <a:pt x="0" y="0"/>
                </a:moveTo>
                <a:lnTo>
                  <a:pt x="2273465" y="0"/>
                </a:lnTo>
                <a:lnTo>
                  <a:pt x="2273465" y="2273464"/>
                </a:lnTo>
                <a:lnTo>
                  <a:pt x="0" y="22734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3185674" y="7280069"/>
            <a:ext cx="2273464" cy="2273464"/>
          </a:xfrm>
          <a:custGeom>
            <a:avLst/>
            <a:gdLst/>
            <a:ahLst/>
            <a:cxnLst/>
            <a:rect r="r" b="b" t="t" l="l"/>
            <a:pathLst>
              <a:path h="2273464" w="2273464">
                <a:moveTo>
                  <a:pt x="0" y="0"/>
                </a:moveTo>
                <a:lnTo>
                  <a:pt x="2273464" y="0"/>
                </a:lnTo>
                <a:lnTo>
                  <a:pt x="2273464" y="2273464"/>
                </a:lnTo>
                <a:lnTo>
                  <a:pt x="0" y="2273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9585349" y="7280069"/>
            <a:ext cx="2273464" cy="2273464"/>
          </a:xfrm>
          <a:custGeom>
            <a:avLst/>
            <a:gdLst/>
            <a:ahLst/>
            <a:cxnLst/>
            <a:rect r="r" b="b" t="t" l="l"/>
            <a:pathLst>
              <a:path h="2273464" w="2273464">
                <a:moveTo>
                  <a:pt x="0" y="0"/>
                </a:moveTo>
                <a:lnTo>
                  <a:pt x="2273464" y="0"/>
                </a:lnTo>
                <a:lnTo>
                  <a:pt x="2273464" y="2273464"/>
                </a:lnTo>
                <a:lnTo>
                  <a:pt x="0" y="22734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5985025" y="7280069"/>
            <a:ext cx="2273464" cy="2273464"/>
          </a:xfrm>
          <a:custGeom>
            <a:avLst/>
            <a:gdLst/>
            <a:ahLst/>
            <a:cxnLst/>
            <a:rect r="r" b="b" t="t" l="l"/>
            <a:pathLst>
              <a:path h="2273464" w="2273464">
                <a:moveTo>
                  <a:pt x="0" y="0"/>
                </a:moveTo>
                <a:lnTo>
                  <a:pt x="2273464" y="0"/>
                </a:lnTo>
                <a:lnTo>
                  <a:pt x="2273464" y="2273464"/>
                </a:lnTo>
                <a:lnTo>
                  <a:pt x="0" y="227346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220616" y="882203"/>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3"/>
              <a:stretch>
                <a:fillRect l="0" t="0" r="0" b="-1"/>
              </a:stretch>
            </a:blipFill>
          </p:spPr>
        </p:sp>
      </p:grpSp>
      <p:sp>
        <p:nvSpPr>
          <p:cNvPr name="TextBox 6" id="6"/>
          <p:cNvSpPr txBox="true"/>
          <p:nvPr/>
        </p:nvSpPr>
        <p:spPr>
          <a:xfrm rot="0">
            <a:off x="3051522" y="796478"/>
            <a:ext cx="14301788" cy="1002792"/>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ומה זה תורם לשירות הצבאי?</a:t>
            </a:r>
          </a:p>
        </p:txBody>
      </p:sp>
      <p:sp>
        <p:nvSpPr>
          <p:cNvPr name="TextBox 7" id="7"/>
          <p:cNvSpPr txBox="true"/>
          <p:nvPr/>
        </p:nvSpPr>
        <p:spPr>
          <a:xfrm rot="0">
            <a:off x="3303140" y="2535768"/>
            <a:ext cx="13956160" cy="1247552"/>
          </a:xfrm>
          <a:prstGeom prst="rect">
            <a:avLst/>
          </a:prstGeom>
        </p:spPr>
        <p:txBody>
          <a:bodyPr anchor="t" rtlCol="false" tIns="0" lIns="0" bIns="0" rIns="0">
            <a:spAutoFit/>
          </a:bodyPr>
          <a:lstStyle/>
          <a:p>
            <a:pPr algn="r" rtl="true">
              <a:lnSpc>
                <a:spcPts val="5055"/>
              </a:lnSpc>
              <a:spcBef>
                <a:spcPct val="0"/>
              </a:spcBef>
            </a:pPr>
            <a:r>
              <a:rPr lang="he-IL" b="true" sz="3610">
                <a:solidFill>
                  <a:srgbClr val="FFFFFF"/>
                </a:solidFill>
                <a:latin typeface="Canva Sans Bold"/>
                <a:ea typeface="Canva Sans Bold"/>
                <a:cs typeface="Canva Sans Bold"/>
                <a:sym typeface="Canva Sans Bold"/>
                <a:rtl val="true"/>
              </a:rPr>
              <a:t>בתוכנית </a:t>
            </a:r>
            <a:r>
              <a:rPr lang="en-US" b="true" sz="3610">
                <a:solidFill>
                  <a:srgbClr val="FFFFFF"/>
                </a:solidFill>
                <a:latin typeface="Canva Sans Bold"/>
                <a:ea typeface="Canva Sans Bold"/>
                <a:cs typeface="Canva Sans Bold"/>
                <a:sym typeface="Canva Sans Bold"/>
              </a:rPr>
              <a:t>Da Vinci</a:t>
            </a:r>
            <a:r>
              <a:rPr lang="he-IL" b="true" sz="3610">
                <a:solidFill>
                  <a:srgbClr val="FFFFFF"/>
                </a:solidFill>
                <a:latin typeface="Canva Sans Bold"/>
                <a:ea typeface="Canva Sans Bold"/>
                <a:cs typeface="Canva Sans Bold"/>
                <a:sym typeface="Canva Sans Bold"/>
                <a:rtl val="true"/>
              </a:rPr>
              <a:t> תקבלו הרבה מאוד, ידע, נסיון וכלים שתסייע לכם להתמיין לתפקידים הכי מעניינים ומשמעותיים בצבא.</a:t>
            </a:r>
          </a:p>
        </p:txBody>
      </p:sp>
      <p:sp>
        <p:nvSpPr>
          <p:cNvPr name="TextBox 8" id="8"/>
          <p:cNvSpPr txBox="true"/>
          <p:nvPr/>
        </p:nvSpPr>
        <p:spPr>
          <a:xfrm rot="0">
            <a:off x="3303140" y="4077787"/>
            <a:ext cx="13956160" cy="2520148"/>
          </a:xfrm>
          <a:prstGeom prst="rect">
            <a:avLst/>
          </a:prstGeom>
        </p:spPr>
        <p:txBody>
          <a:bodyPr anchor="t" rtlCol="false" tIns="0" lIns="0" bIns="0" rIns="0">
            <a:spAutoFit/>
          </a:bodyPr>
          <a:lstStyle/>
          <a:p>
            <a:pPr algn="r" rtl="true">
              <a:lnSpc>
                <a:spcPts val="5055"/>
              </a:lnSpc>
              <a:spcBef>
                <a:spcPct val="0"/>
              </a:spcBef>
            </a:pPr>
            <a:r>
              <a:rPr lang="he-IL" b="true" sz="3610">
                <a:solidFill>
                  <a:srgbClr val="FFFFFF"/>
                </a:solidFill>
                <a:latin typeface="Canva Sans Bold"/>
                <a:ea typeface="Canva Sans Bold"/>
                <a:cs typeface="Canva Sans Bold"/>
                <a:sym typeface="Canva Sans Bold"/>
                <a:rtl val="true"/>
              </a:rPr>
              <a:t>בנוסף תהיה לכם הכרויות וביקורים של היחידות הטכנולוגיות והקרביות ההכי מתקדמות בצבא, תוכלו להכיר, לשאול, למצוא ולכוון למקום שתאפשר לכם לעשות את השירות ההכי מעניין ומשמעותי עבורכם.</a:t>
            </a:r>
          </a:p>
        </p:txBody>
      </p:sp>
      <p:sp>
        <p:nvSpPr>
          <p:cNvPr name="Freeform 9" id="9"/>
          <p:cNvSpPr/>
          <p:nvPr/>
        </p:nvSpPr>
        <p:spPr>
          <a:xfrm flipH="false" flipV="false" rot="0">
            <a:off x="646151" y="2894156"/>
            <a:ext cx="1620698" cy="1620698"/>
          </a:xfrm>
          <a:custGeom>
            <a:avLst/>
            <a:gdLst/>
            <a:ahLst/>
            <a:cxnLst/>
            <a:rect r="r" b="b" t="t" l="l"/>
            <a:pathLst>
              <a:path h="1620698" w="1620698">
                <a:moveTo>
                  <a:pt x="0" y="0"/>
                </a:moveTo>
                <a:lnTo>
                  <a:pt x="1620698" y="0"/>
                </a:lnTo>
                <a:lnTo>
                  <a:pt x="1620698" y="1620699"/>
                </a:lnTo>
                <a:lnTo>
                  <a:pt x="0" y="1620699"/>
                </a:lnTo>
                <a:lnTo>
                  <a:pt x="0" y="0"/>
                </a:lnTo>
                <a:close/>
              </a:path>
            </a:pathLst>
          </a:custGeom>
          <a:blipFill>
            <a:blip r:embed="rId4"/>
            <a:stretch>
              <a:fillRect l="0" t="0" r="0" b="0"/>
            </a:stretch>
          </a:blipFill>
        </p:spPr>
      </p:sp>
      <p:sp>
        <p:nvSpPr>
          <p:cNvPr name="Freeform 10" id="10"/>
          <p:cNvSpPr/>
          <p:nvPr/>
        </p:nvSpPr>
        <p:spPr>
          <a:xfrm flipH="false" flipV="false" rot="0">
            <a:off x="646151" y="5076062"/>
            <a:ext cx="1620698" cy="1620698"/>
          </a:xfrm>
          <a:custGeom>
            <a:avLst/>
            <a:gdLst/>
            <a:ahLst/>
            <a:cxnLst/>
            <a:rect r="r" b="b" t="t" l="l"/>
            <a:pathLst>
              <a:path h="1620698" w="1620698">
                <a:moveTo>
                  <a:pt x="0" y="0"/>
                </a:moveTo>
                <a:lnTo>
                  <a:pt x="1620698" y="0"/>
                </a:lnTo>
                <a:lnTo>
                  <a:pt x="1620698" y="1620699"/>
                </a:lnTo>
                <a:lnTo>
                  <a:pt x="0" y="1620699"/>
                </a:lnTo>
                <a:lnTo>
                  <a:pt x="0" y="0"/>
                </a:lnTo>
                <a:close/>
              </a:path>
            </a:pathLst>
          </a:custGeom>
          <a:blipFill>
            <a:blip r:embed="rId5"/>
            <a:stretch>
              <a:fillRect l="0" t="0" r="0" b="0"/>
            </a:stretch>
          </a:blipFill>
        </p:spPr>
      </p:sp>
      <p:sp>
        <p:nvSpPr>
          <p:cNvPr name="Freeform 11" id="11"/>
          <p:cNvSpPr/>
          <p:nvPr/>
        </p:nvSpPr>
        <p:spPr>
          <a:xfrm flipH="false" flipV="false" rot="0">
            <a:off x="646151" y="7358966"/>
            <a:ext cx="1344144" cy="1899334"/>
          </a:xfrm>
          <a:custGeom>
            <a:avLst/>
            <a:gdLst/>
            <a:ahLst/>
            <a:cxnLst/>
            <a:rect r="r" b="b" t="t" l="l"/>
            <a:pathLst>
              <a:path h="1899334" w="1344144">
                <a:moveTo>
                  <a:pt x="0" y="0"/>
                </a:moveTo>
                <a:lnTo>
                  <a:pt x="1344143" y="0"/>
                </a:lnTo>
                <a:lnTo>
                  <a:pt x="1344143" y="1899334"/>
                </a:lnTo>
                <a:lnTo>
                  <a:pt x="0" y="1899334"/>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400300" y="857250"/>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4"/>
              <a:stretch>
                <a:fillRect l="0" t="0" r="0" b="-1"/>
              </a:stretch>
            </a:blipFill>
          </p:spPr>
        </p:sp>
      </p:grpSp>
      <p:sp>
        <p:nvSpPr>
          <p:cNvPr name="TextBox 6" id="6"/>
          <p:cNvSpPr txBox="true"/>
          <p:nvPr/>
        </p:nvSpPr>
        <p:spPr>
          <a:xfrm rot="0">
            <a:off x="3071812" y="771525"/>
            <a:ext cx="14301788" cy="1228725"/>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איך נראית שנה בתוכנית</a:t>
            </a:r>
          </a:p>
        </p:txBody>
      </p:sp>
      <p:grpSp>
        <p:nvGrpSpPr>
          <p:cNvPr name="Group 7" id="7"/>
          <p:cNvGrpSpPr/>
          <p:nvPr/>
        </p:nvGrpSpPr>
        <p:grpSpPr>
          <a:xfrm rot="0">
            <a:off x="914400" y="2471738"/>
            <a:ext cx="16459200" cy="14288"/>
            <a:chOff x="0" y="0"/>
            <a:chExt cx="21945600" cy="19050"/>
          </a:xfrm>
        </p:grpSpPr>
        <p:sp>
          <p:nvSpPr>
            <p:cNvPr name="Freeform 8" id="8"/>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F4D3A0">
                <a:alpha val="17255"/>
              </a:srgbClr>
            </a:solidFill>
          </p:spPr>
        </p:sp>
      </p:grpSp>
      <p:grpSp>
        <p:nvGrpSpPr>
          <p:cNvPr name="Group 9" id="9"/>
          <p:cNvGrpSpPr/>
          <p:nvPr/>
        </p:nvGrpSpPr>
        <p:grpSpPr>
          <a:xfrm rot="0">
            <a:off x="914400" y="9320974"/>
            <a:ext cx="3400425" cy="474736"/>
            <a:chOff x="0" y="0"/>
            <a:chExt cx="4533900" cy="632981"/>
          </a:xfrm>
        </p:grpSpPr>
        <p:sp>
          <p:nvSpPr>
            <p:cNvPr name="Freeform 10" id="10"/>
            <p:cNvSpPr/>
            <p:nvPr/>
          </p:nvSpPr>
          <p:spPr>
            <a:xfrm flipH="false" flipV="false" rot="0">
              <a:off x="0" y="0"/>
              <a:ext cx="4533900" cy="632968"/>
            </a:xfrm>
            <a:custGeom>
              <a:avLst/>
              <a:gdLst/>
              <a:ahLst/>
              <a:cxnLst/>
              <a:rect r="r" b="b" t="t" l="l"/>
              <a:pathLst>
                <a:path h="632968" w="4533900">
                  <a:moveTo>
                    <a:pt x="0" y="0"/>
                  </a:moveTo>
                  <a:lnTo>
                    <a:pt x="4533900" y="0"/>
                  </a:lnTo>
                  <a:lnTo>
                    <a:pt x="4533900" y="632968"/>
                  </a:lnTo>
                  <a:lnTo>
                    <a:pt x="0" y="632968"/>
                  </a:lnTo>
                  <a:lnTo>
                    <a:pt x="0" y="0"/>
                  </a:lnTo>
                  <a:close/>
                </a:path>
              </a:pathLst>
            </a:custGeom>
            <a:blipFill>
              <a:blip r:embed="rId5"/>
              <a:stretch>
                <a:fillRect l="0" t="0" r="0" b="-2"/>
              </a:stretch>
            </a:blipFill>
          </p:spPr>
        </p:sp>
      </p:grpSp>
      <p:sp>
        <p:nvSpPr>
          <p:cNvPr name="TextBox 11" id="11"/>
          <p:cNvSpPr txBox="true"/>
          <p:nvPr/>
        </p:nvSpPr>
        <p:spPr>
          <a:xfrm rot="0">
            <a:off x="16430625" y="9401175"/>
            <a:ext cx="942975" cy="485775"/>
          </a:xfrm>
          <a:prstGeom prst="rect">
            <a:avLst/>
          </a:prstGeom>
        </p:spPr>
        <p:txBody>
          <a:bodyPr anchor="t" rtlCol="false" tIns="0" lIns="0" bIns="0" rIns="0">
            <a:spAutoFit/>
          </a:bodyPr>
          <a:lstStyle/>
          <a:p>
            <a:pPr algn="r">
              <a:lnSpc>
                <a:spcPts val="2970"/>
              </a:lnSpc>
            </a:pPr>
            <a:r>
              <a:rPr lang="en-US" sz="2250">
                <a:solidFill>
                  <a:srgbClr val="FFFFFF"/>
                </a:solidFill>
                <a:latin typeface="Rubik"/>
                <a:ea typeface="Rubik"/>
                <a:cs typeface="Rubik"/>
                <a:sym typeface="Rubik"/>
              </a:rPr>
              <a:t>04</a:t>
            </a:r>
          </a:p>
        </p:txBody>
      </p:sp>
      <p:grpSp>
        <p:nvGrpSpPr>
          <p:cNvPr name="Group 12" id="12"/>
          <p:cNvGrpSpPr/>
          <p:nvPr/>
        </p:nvGrpSpPr>
        <p:grpSpPr>
          <a:xfrm rot="0">
            <a:off x="1628775" y="4029075"/>
            <a:ext cx="14730412" cy="28575"/>
            <a:chOff x="0" y="0"/>
            <a:chExt cx="19640550" cy="38100"/>
          </a:xfrm>
        </p:grpSpPr>
        <p:sp>
          <p:nvSpPr>
            <p:cNvPr name="Freeform 13" id="13"/>
            <p:cNvSpPr/>
            <p:nvPr/>
          </p:nvSpPr>
          <p:spPr>
            <a:xfrm flipH="false" flipV="false" rot="0">
              <a:off x="0" y="0"/>
              <a:ext cx="19640550" cy="38100"/>
            </a:xfrm>
            <a:custGeom>
              <a:avLst/>
              <a:gdLst/>
              <a:ahLst/>
              <a:cxnLst/>
              <a:rect r="r" b="b" t="t" l="l"/>
              <a:pathLst>
                <a:path h="38100" w="19640550">
                  <a:moveTo>
                    <a:pt x="0" y="0"/>
                  </a:moveTo>
                  <a:lnTo>
                    <a:pt x="19640550" y="0"/>
                  </a:lnTo>
                  <a:lnTo>
                    <a:pt x="19640550" y="38100"/>
                  </a:lnTo>
                  <a:lnTo>
                    <a:pt x="0" y="38100"/>
                  </a:lnTo>
                  <a:close/>
                </a:path>
              </a:pathLst>
            </a:custGeom>
            <a:solidFill>
              <a:srgbClr val="FFDBA2"/>
            </a:solidFill>
          </p:spPr>
        </p:sp>
      </p:grpSp>
      <p:grpSp>
        <p:nvGrpSpPr>
          <p:cNvPr name="Group 14" id="14"/>
          <p:cNvGrpSpPr/>
          <p:nvPr/>
        </p:nvGrpSpPr>
        <p:grpSpPr>
          <a:xfrm rot="0">
            <a:off x="1271588" y="3914775"/>
            <a:ext cx="371475" cy="257175"/>
            <a:chOff x="0" y="0"/>
            <a:chExt cx="495300" cy="342900"/>
          </a:xfrm>
        </p:grpSpPr>
        <p:sp>
          <p:nvSpPr>
            <p:cNvPr name="Freeform 15" id="15"/>
            <p:cNvSpPr/>
            <p:nvPr/>
          </p:nvSpPr>
          <p:spPr>
            <a:xfrm flipH="false" flipV="false" rot="0">
              <a:off x="0" y="0"/>
              <a:ext cx="495300" cy="342900"/>
            </a:xfrm>
            <a:custGeom>
              <a:avLst/>
              <a:gdLst/>
              <a:ahLst/>
              <a:cxnLst/>
              <a:rect r="r" b="b" t="t" l="l"/>
              <a:pathLst>
                <a:path h="342900" w="495300">
                  <a:moveTo>
                    <a:pt x="0" y="171450"/>
                  </a:moveTo>
                  <a:lnTo>
                    <a:pt x="171450" y="0"/>
                  </a:lnTo>
                  <a:lnTo>
                    <a:pt x="171450" y="85725"/>
                  </a:lnTo>
                  <a:lnTo>
                    <a:pt x="495300" y="85725"/>
                  </a:lnTo>
                  <a:lnTo>
                    <a:pt x="495300" y="257175"/>
                  </a:lnTo>
                  <a:lnTo>
                    <a:pt x="171450" y="257175"/>
                  </a:lnTo>
                  <a:lnTo>
                    <a:pt x="171450" y="342900"/>
                  </a:lnTo>
                  <a:close/>
                </a:path>
              </a:pathLst>
            </a:custGeom>
            <a:solidFill>
              <a:srgbClr val="FFDBA2"/>
            </a:solidFill>
          </p:spPr>
        </p:sp>
      </p:grpSp>
      <p:grpSp>
        <p:nvGrpSpPr>
          <p:cNvPr name="Group 16" id="16"/>
          <p:cNvGrpSpPr/>
          <p:nvPr/>
        </p:nvGrpSpPr>
        <p:grpSpPr>
          <a:xfrm rot="0">
            <a:off x="15616238" y="3943350"/>
            <a:ext cx="200025" cy="200025"/>
            <a:chOff x="0" y="0"/>
            <a:chExt cx="266700" cy="266700"/>
          </a:xfrm>
        </p:grpSpPr>
        <p:sp>
          <p:nvSpPr>
            <p:cNvPr name="Freeform 17" id="17"/>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18" id="18"/>
          <p:cNvGrpSpPr/>
          <p:nvPr/>
        </p:nvGrpSpPr>
        <p:grpSpPr>
          <a:xfrm rot="0">
            <a:off x="11329988" y="3943350"/>
            <a:ext cx="200025" cy="200025"/>
            <a:chOff x="0" y="0"/>
            <a:chExt cx="266700" cy="266700"/>
          </a:xfrm>
        </p:grpSpPr>
        <p:sp>
          <p:nvSpPr>
            <p:cNvPr name="Freeform 19" id="19"/>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20" id="20"/>
          <p:cNvGrpSpPr/>
          <p:nvPr/>
        </p:nvGrpSpPr>
        <p:grpSpPr>
          <a:xfrm rot="0">
            <a:off x="7043738" y="3943350"/>
            <a:ext cx="200025" cy="200025"/>
            <a:chOff x="0" y="0"/>
            <a:chExt cx="266700" cy="266700"/>
          </a:xfrm>
        </p:grpSpPr>
        <p:sp>
          <p:nvSpPr>
            <p:cNvPr name="Freeform 21" id="21"/>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22" id="22"/>
          <p:cNvGrpSpPr/>
          <p:nvPr/>
        </p:nvGrpSpPr>
        <p:grpSpPr>
          <a:xfrm rot="0">
            <a:off x="2757488" y="3943350"/>
            <a:ext cx="200025" cy="200025"/>
            <a:chOff x="0" y="0"/>
            <a:chExt cx="266700" cy="266700"/>
          </a:xfrm>
        </p:grpSpPr>
        <p:sp>
          <p:nvSpPr>
            <p:cNvPr name="Freeform 23" id="23"/>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24" id="24"/>
          <p:cNvGrpSpPr/>
          <p:nvPr/>
        </p:nvGrpSpPr>
        <p:grpSpPr>
          <a:xfrm rot="0">
            <a:off x="1628775" y="6986588"/>
            <a:ext cx="14730412" cy="28575"/>
            <a:chOff x="0" y="0"/>
            <a:chExt cx="19640550" cy="38100"/>
          </a:xfrm>
        </p:grpSpPr>
        <p:sp>
          <p:nvSpPr>
            <p:cNvPr name="Freeform 25" id="25"/>
            <p:cNvSpPr/>
            <p:nvPr/>
          </p:nvSpPr>
          <p:spPr>
            <a:xfrm flipH="false" flipV="false" rot="0">
              <a:off x="0" y="0"/>
              <a:ext cx="19640550" cy="38100"/>
            </a:xfrm>
            <a:custGeom>
              <a:avLst/>
              <a:gdLst/>
              <a:ahLst/>
              <a:cxnLst/>
              <a:rect r="r" b="b" t="t" l="l"/>
              <a:pathLst>
                <a:path h="38100" w="19640550">
                  <a:moveTo>
                    <a:pt x="0" y="0"/>
                  </a:moveTo>
                  <a:lnTo>
                    <a:pt x="19640550" y="0"/>
                  </a:lnTo>
                  <a:lnTo>
                    <a:pt x="19640550" y="38100"/>
                  </a:lnTo>
                  <a:lnTo>
                    <a:pt x="0" y="38100"/>
                  </a:lnTo>
                  <a:close/>
                </a:path>
              </a:pathLst>
            </a:custGeom>
            <a:solidFill>
              <a:srgbClr val="FFDBA2"/>
            </a:solidFill>
          </p:spPr>
        </p:sp>
      </p:grpSp>
      <p:grpSp>
        <p:nvGrpSpPr>
          <p:cNvPr name="Group 26" id="26"/>
          <p:cNvGrpSpPr/>
          <p:nvPr/>
        </p:nvGrpSpPr>
        <p:grpSpPr>
          <a:xfrm rot="0">
            <a:off x="1271588" y="6872288"/>
            <a:ext cx="371475" cy="257175"/>
            <a:chOff x="0" y="0"/>
            <a:chExt cx="495300" cy="342900"/>
          </a:xfrm>
        </p:grpSpPr>
        <p:sp>
          <p:nvSpPr>
            <p:cNvPr name="Freeform 27" id="27"/>
            <p:cNvSpPr/>
            <p:nvPr/>
          </p:nvSpPr>
          <p:spPr>
            <a:xfrm flipH="false" flipV="false" rot="0">
              <a:off x="0" y="0"/>
              <a:ext cx="495300" cy="342900"/>
            </a:xfrm>
            <a:custGeom>
              <a:avLst/>
              <a:gdLst/>
              <a:ahLst/>
              <a:cxnLst/>
              <a:rect r="r" b="b" t="t" l="l"/>
              <a:pathLst>
                <a:path h="342900" w="495300">
                  <a:moveTo>
                    <a:pt x="0" y="171450"/>
                  </a:moveTo>
                  <a:lnTo>
                    <a:pt x="171450" y="0"/>
                  </a:lnTo>
                  <a:lnTo>
                    <a:pt x="171450" y="85725"/>
                  </a:lnTo>
                  <a:lnTo>
                    <a:pt x="495300" y="85725"/>
                  </a:lnTo>
                  <a:lnTo>
                    <a:pt x="495300" y="257175"/>
                  </a:lnTo>
                  <a:lnTo>
                    <a:pt x="171450" y="257175"/>
                  </a:lnTo>
                  <a:lnTo>
                    <a:pt x="171450" y="342900"/>
                  </a:lnTo>
                  <a:close/>
                </a:path>
              </a:pathLst>
            </a:custGeom>
            <a:solidFill>
              <a:srgbClr val="FFDBA2"/>
            </a:solidFill>
          </p:spPr>
        </p:sp>
      </p:grpSp>
      <p:grpSp>
        <p:nvGrpSpPr>
          <p:cNvPr name="Group 28" id="28"/>
          <p:cNvGrpSpPr/>
          <p:nvPr/>
        </p:nvGrpSpPr>
        <p:grpSpPr>
          <a:xfrm rot="0">
            <a:off x="15616238" y="6900862"/>
            <a:ext cx="200025" cy="200025"/>
            <a:chOff x="0" y="0"/>
            <a:chExt cx="266700" cy="266700"/>
          </a:xfrm>
        </p:grpSpPr>
        <p:sp>
          <p:nvSpPr>
            <p:cNvPr name="Freeform 29" id="29"/>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30" id="30"/>
          <p:cNvGrpSpPr/>
          <p:nvPr/>
        </p:nvGrpSpPr>
        <p:grpSpPr>
          <a:xfrm rot="0">
            <a:off x="11329988" y="6900862"/>
            <a:ext cx="200025" cy="200025"/>
            <a:chOff x="0" y="0"/>
            <a:chExt cx="266700" cy="266700"/>
          </a:xfrm>
        </p:grpSpPr>
        <p:sp>
          <p:nvSpPr>
            <p:cNvPr name="Freeform 31" id="31"/>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32" id="32"/>
          <p:cNvGrpSpPr/>
          <p:nvPr/>
        </p:nvGrpSpPr>
        <p:grpSpPr>
          <a:xfrm rot="0">
            <a:off x="7043738" y="6900862"/>
            <a:ext cx="200025" cy="200025"/>
            <a:chOff x="0" y="0"/>
            <a:chExt cx="266700" cy="266700"/>
          </a:xfrm>
        </p:grpSpPr>
        <p:sp>
          <p:nvSpPr>
            <p:cNvPr name="Freeform 33" id="33"/>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grpSp>
        <p:nvGrpSpPr>
          <p:cNvPr name="Group 34" id="34"/>
          <p:cNvGrpSpPr/>
          <p:nvPr/>
        </p:nvGrpSpPr>
        <p:grpSpPr>
          <a:xfrm rot="0">
            <a:off x="2757488" y="6900862"/>
            <a:ext cx="200025" cy="200025"/>
            <a:chOff x="0" y="0"/>
            <a:chExt cx="266700" cy="266700"/>
          </a:xfrm>
        </p:grpSpPr>
        <p:sp>
          <p:nvSpPr>
            <p:cNvPr name="Freeform 35" id="35"/>
            <p:cNvSpPr/>
            <p:nvPr/>
          </p:nvSpPr>
          <p:spPr>
            <a:xfrm flipH="false" flipV="false" rot="0">
              <a:off x="0" y="0"/>
              <a:ext cx="266700" cy="266700"/>
            </a:xfrm>
            <a:custGeom>
              <a:avLst/>
              <a:gdLst/>
              <a:ahLst/>
              <a:cxnLst/>
              <a:rect r="r" b="b" t="t" l="l"/>
              <a:pathLst>
                <a:path h="266700" w="266700">
                  <a:moveTo>
                    <a:pt x="0" y="133350"/>
                  </a:moveTo>
                  <a:cubicBezTo>
                    <a:pt x="0" y="59690"/>
                    <a:pt x="59690" y="0"/>
                    <a:pt x="133350" y="0"/>
                  </a:cubicBezTo>
                  <a:cubicBezTo>
                    <a:pt x="207010" y="0"/>
                    <a:pt x="266700" y="59690"/>
                    <a:pt x="266700" y="133350"/>
                  </a:cubicBezTo>
                  <a:cubicBezTo>
                    <a:pt x="266700" y="207010"/>
                    <a:pt x="207010" y="266700"/>
                    <a:pt x="133350" y="266700"/>
                  </a:cubicBezTo>
                  <a:cubicBezTo>
                    <a:pt x="59690" y="266700"/>
                    <a:pt x="0" y="207010"/>
                    <a:pt x="0" y="133350"/>
                  </a:cubicBezTo>
                  <a:close/>
                </a:path>
              </a:pathLst>
            </a:custGeom>
            <a:solidFill>
              <a:srgbClr val="FFDBA2"/>
            </a:solidFill>
          </p:spPr>
        </p:sp>
      </p:grpSp>
      <p:sp>
        <p:nvSpPr>
          <p:cNvPr name="TextBox 36" id="36"/>
          <p:cNvSpPr txBox="true"/>
          <p:nvPr/>
        </p:nvSpPr>
        <p:spPr>
          <a:xfrm rot="0">
            <a:off x="13787438" y="2847975"/>
            <a:ext cx="3857625" cy="581025"/>
          </a:xfrm>
          <a:prstGeom prst="rect">
            <a:avLst/>
          </a:prstGeom>
        </p:spPr>
        <p:txBody>
          <a:bodyPr anchor="t" rtlCol="false" tIns="0" lIns="0" bIns="0" rIns="0">
            <a:spAutoFit/>
          </a:bodyPr>
          <a:lstStyle/>
          <a:p>
            <a:pPr algn="ctr" rtl="true">
              <a:lnSpc>
                <a:spcPts val="3861"/>
              </a:lnSpc>
            </a:pPr>
            <a:r>
              <a:rPr lang="he-IL" b="true" sz="2925">
                <a:solidFill>
                  <a:srgbClr val="FFDBA2"/>
                </a:solidFill>
                <a:latin typeface="Rubik Bold"/>
                <a:ea typeface="Rubik Bold"/>
                <a:cs typeface="Rubik Bold"/>
                <a:sym typeface="Rubik Bold"/>
                <a:rtl val="true"/>
              </a:rPr>
              <a:t>אתם כאן</a:t>
            </a:r>
          </a:p>
        </p:txBody>
      </p:sp>
      <p:grpSp>
        <p:nvGrpSpPr>
          <p:cNvPr name="Group 37" id="37"/>
          <p:cNvGrpSpPr/>
          <p:nvPr/>
        </p:nvGrpSpPr>
        <p:grpSpPr>
          <a:xfrm rot="0">
            <a:off x="15516225" y="3429000"/>
            <a:ext cx="400050" cy="400050"/>
            <a:chOff x="0" y="0"/>
            <a:chExt cx="533400" cy="533400"/>
          </a:xfrm>
        </p:grpSpPr>
        <p:sp>
          <p:nvSpPr>
            <p:cNvPr name="Freeform 38" id="38"/>
            <p:cNvSpPr/>
            <p:nvPr/>
          </p:nvSpPr>
          <p:spPr>
            <a:xfrm flipH="false" flipV="false" rot="0">
              <a:off x="0" y="0"/>
              <a:ext cx="533400" cy="533400"/>
            </a:xfrm>
            <a:custGeom>
              <a:avLst/>
              <a:gdLst/>
              <a:ahLst/>
              <a:cxnLst/>
              <a:rect r="r" b="b" t="t" l="l"/>
              <a:pathLst>
                <a:path h="533400" w="533400">
                  <a:moveTo>
                    <a:pt x="0" y="266700"/>
                  </a:moveTo>
                  <a:lnTo>
                    <a:pt x="133350" y="266700"/>
                  </a:lnTo>
                  <a:lnTo>
                    <a:pt x="133350" y="0"/>
                  </a:lnTo>
                  <a:lnTo>
                    <a:pt x="400050" y="0"/>
                  </a:lnTo>
                  <a:lnTo>
                    <a:pt x="400050" y="266700"/>
                  </a:lnTo>
                  <a:lnTo>
                    <a:pt x="533400" y="266700"/>
                  </a:lnTo>
                  <a:lnTo>
                    <a:pt x="266700" y="533400"/>
                  </a:lnTo>
                  <a:close/>
                </a:path>
              </a:pathLst>
            </a:custGeom>
            <a:solidFill>
              <a:srgbClr val="FFDBA2"/>
            </a:solidFill>
          </p:spPr>
        </p:sp>
      </p:grpSp>
      <p:sp>
        <p:nvSpPr>
          <p:cNvPr name="TextBox 39" id="39"/>
          <p:cNvSpPr txBox="true"/>
          <p:nvPr/>
        </p:nvSpPr>
        <p:spPr>
          <a:xfrm rot="0">
            <a:off x="13787438" y="4367213"/>
            <a:ext cx="3857625" cy="647700"/>
          </a:xfrm>
          <a:prstGeom prst="rect">
            <a:avLst/>
          </a:prstGeom>
        </p:spPr>
        <p:txBody>
          <a:bodyPr anchor="t" rtlCol="false" tIns="0" lIns="0" bIns="0" rIns="0">
            <a:spAutoFit/>
          </a:bodyPr>
          <a:lstStyle/>
          <a:p>
            <a:pPr algn="ctr" rtl="true">
              <a:lnSpc>
                <a:spcPts val="4158"/>
              </a:lnSpc>
            </a:pPr>
            <a:r>
              <a:rPr lang="he-IL" b="true" sz="3150">
                <a:solidFill>
                  <a:srgbClr val="FFFFFF"/>
                </a:solidFill>
                <a:latin typeface="Rubik Bold"/>
                <a:ea typeface="Rubik Bold"/>
                <a:cs typeface="Rubik Bold"/>
                <a:sym typeface="Rubik Bold"/>
                <a:rtl val="true"/>
              </a:rPr>
              <a:t>מפגש ההיכרות</a:t>
            </a:r>
          </a:p>
        </p:txBody>
      </p:sp>
      <p:sp>
        <p:nvSpPr>
          <p:cNvPr name="TextBox 40" id="40"/>
          <p:cNvSpPr txBox="true"/>
          <p:nvPr/>
        </p:nvSpPr>
        <p:spPr>
          <a:xfrm rot="0">
            <a:off x="9501188" y="3119438"/>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המפגש הבא</a:t>
            </a:r>
          </a:p>
        </p:txBody>
      </p:sp>
      <p:sp>
        <p:nvSpPr>
          <p:cNvPr name="TextBox 41" id="41"/>
          <p:cNvSpPr txBox="true"/>
          <p:nvPr/>
        </p:nvSpPr>
        <p:spPr>
          <a:xfrm rot="0">
            <a:off x="9501188" y="4367213"/>
            <a:ext cx="3857625" cy="647700"/>
          </a:xfrm>
          <a:prstGeom prst="rect">
            <a:avLst/>
          </a:prstGeom>
        </p:spPr>
        <p:txBody>
          <a:bodyPr anchor="t" rtlCol="false" tIns="0" lIns="0" bIns="0" rIns="0">
            <a:spAutoFit/>
          </a:bodyPr>
          <a:lstStyle/>
          <a:p>
            <a:pPr algn="ctr" rtl="true">
              <a:lnSpc>
                <a:spcPts val="4158"/>
              </a:lnSpc>
            </a:pPr>
            <a:r>
              <a:rPr lang="he-IL" b="true" sz="3150">
                <a:solidFill>
                  <a:srgbClr val="FFFFFF"/>
                </a:solidFill>
                <a:latin typeface="Rubik Bold"/>
                <a:ea typeface="Rubik Bold"/>
                <a:cs typeface="Rubik Bold"/>
                <a:sym typeface="Rubik Bold"/>
                <a:rtl val="true"/>
              </a:rPr>
              <a:t>חשיפה לקבוצה</a:t>
            </a:r>
          </a:p>
        </p:txBody>
      </p:sp>
      <p:sp>
        <p:nvSpPr>
          <p:cNvPr name="TextBox 42" id="42"/>
          <p:cNvSpPr txBox="true"/>
          <p:nvPr/>
        </p:nvSpPr>
        <p:spPr>
          <a:xfrm rot="0">
            <a:off x="9336217" y="5062538"/>
            <a:ext cx="4387592" cy="855916"/>
          </a:xfrm>
          <a:prstGeom prst="rect">
            <a:avLst/>
          </a:prstGeom>
        </p:spPr>
        <p:txBody>
          <a:bodyPr anchor="t" rtlCol="false" tIns="0" lIns="0" bIns="0" rIns="0">
            <a:spAutoFit/>
          </a:bodyPr>
          <a:lstStyle/>
          <a:p>
            <a:pPr algn="ctr" rtl="true">
              <a:lnSpc>
                <a:spcPts val="3415"/>
              </a:lnSpc>
            </a:pPr>
            <a:r>
              <a:rPr lang="he-IL" sz="2587">
                <a:solidFill>
                  <a:srgbClr val="FFFFFF"/>
                </a:solidFill>
                <a:latin typeface="Rubik"/>
                <a:ea typeface="Rubik"/>
                <a:cs typeface="Rubik"/>
                <a:sym typeface="Rubik"/>
                <a:rtl val="true"/>
              </a:rPr>
              <a:t>פוגשים את אנשי הקבוצה, עוברים ראיון אישי ומצטרפים לצוות</a:t>
            </a:r>
          </a:p>
        </p:txBody>
      </p:sp>
      <p:sp>
        <p:nvSpPr>
          <p:cNvPr name="TextBox 43" id="43"/>
          <p:cNvSpPr txBox="true"/>
          <p:nvPr/>
        </p:nvSpPr>
        <p:spPr>
          <a:xfrm rot="0">
            <a:off x="5214938" y="3119438"/>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סוף אוקטובר–דצמבר</a:t>
            </a:r>
          </a:p>
        </p:txBody>
      </p:sp>
      <p:sp>
        <p:nvSpPr>
          <p:cNvPr name="TextBox 44" id="44"/>
          <p:cNvSpPr txBox="true"/>
          <p:nvPr/>
        </p:nvSpPr>
        <p:spPr>
          <a:xfrm rot="0">
            <a:off x="5214938" y="4367213"/>
            <a:ext cx="3857625" cy="647700"/>
          </a:xfrm>
          <a:prstGeom prst="rect">
            <a:avLst/>
          </a:prstGeom>
        </p:spPr>
        <p:txBody>
          <a:bodyPr anchor="t" rtlCol="false" tIns="0" lIns="0" bIns="0" rIns="0">
            <a:spAutoFit/>
          </a:bodyPr>
          <a:lstStyle/>
          <a:p>
            <a:pPr algn="ctr" rtl="true">
              <a:lnSpc>
                <a:spcPts val="4158"/>
              </a:lnSpc>
            </a:pPr>
            <a:r>
              <a:rPr lang="he-IL" b="true" sz="3150">
                <a:solidFill>
                  <a:srgbClr val="FFFFFF"/>
                </a:solidFill>
                <a:latin typeface="Rubik Bold"/>
                <a:ea typeface="Rubik Bold"/>
                <a:cs typeface="Rubik Bold"/>
                <a:sym typeface="Rubik Bold"/>
                <a:rtl val="true"/>
              </a:rPr>
              <a:t>תקופת הכשרות</a:t>
            </a:r>
          </a:p>
        </p:txBody>
      </p:sp>
      <p:sp>
        <p:nvSpPr>
          <p:cNvPr name="TextBox 45" id="45"/>
          <p:cNvSpPr txBox="true"/>
          <p:nvPr/>
        </p:nvSpPr>
        <p:spPr>
          <a:xfrm rot="0">
            <a:off x="5214938" y="5062538"/>
            <a:ext cx="3857625" cy="1023938"/>
          </a:xfrm>
          <a:prstGeom prst="rect">
            <a:avLst/>
          </a:prstGeom>
        </p:spPr>
        <p:txBody>
          <a:bodyPr anchor="t" rtlCol="false" tIns="0" lIns="0" bIns="0" rIns="0">
            <a:spAutoFit/>
          </a:bodyPr>
          <a:lstStyle/>
          <a:p>
            <a:pPr algn="ctr" rtl="true">
              <a:lnSpc>
                <a:spcPts val="3415"/>
              </a:lnSpc>
            </a:pPr>
            <a:r>
              <a:rPr lang="he-IL" sz="2587">
                <a:solidFill>
                  <a:srgbClr val="FFFFFF"/>
                </a:solidFill>
                <a:latin typeface="Rubik"/>
                <a:ea typeface="Rubik"/>
                <a:cs typeface="Rubik"/>
                <a:sym typeface="Rubik"/>
                <a:rtl val="true"/>
              </a:rPr>
              <a:t>לומדים ומתרגלים</a:t>
            </a:r>
          </a:p>
          <a:p>
            <a:pPr algn="ctr" rtl="true">
              <a:lnSpc>
                <a:spcPts val="3415"/>
              </a:lnSpc>
            </a:pPr>
            <a:r>
              <a:rPr lang="he-IL" sz="2587">
                <a:solidFill>
                  <a:srgbClr val="FFFFFF"/>
                </a:solidFill>
                <a:latin typeface="Rubik"/>
                <a:ea typeface="Rubik"/>
                <a:cs typeface="Rubik"/>
                <a:sym typeface="Rubik"/>
                <a:rtl val="true"/>
              </a:rPr>
              <a:t>בתחומי הצוותים</a:t>
            </a:r>
          </a:p>
        </p:txBody>
      </p:sp>
      <p:sp>
        <p:nvSpPr>
          <p:cNvPr name="TextBox 46" id="46"/>
          <p:cNvSpPr txBox="true"/>
          <p:nvPr/>
        </p:nvSpPr>
        <p:spPr>
          <a:xfrm rot="0">
            <a:off x="928688" y="3119438"/>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דצמבר</a:t>
            </a:r>
          </a:p>
        </p:txBody>
      </p:sp>
      <p:sp>
        <p:nvSpPr>
          <p:cNvPr name="TextBox 47" id="47"/>
          <p:cNvSpPr txBox="true"/>
          <p:nvPr/>
        </p:nvSpPr>
        <p:spPr>
          <a:xfrm rot="0">
            <a:off x="928688" y="4367213"/>
            <a:ext cx="3857625" cy="647700"/>
          </a:xfrm>
          <a:prstGeom prst="rect">
            <a:avLst/>
          </a:prstGeom>
        </p:spPr>
        <p:txBody>
          <a:bodyPr anchor="t" rtlCol="false" tIns="0" lIns="0" bIns="0" rIns="0">
            <a:spAutoFit/>
          </a:bodyPr>
          <a:lstStyle/>
          <a:p>
            <a:pPr algn="ctr" rtl="true">
              <a:lnSpc>
                <a:spcPts val="4158"/>
              </a:lnSpc>
            </a:pPr>
            <a:r>
              <a:rPr lang="he-IL" b="true" sz="3150">
                <a:solidFill>
                  <a:srgbClr val="FFFFFF"/>
                </a:solidFill>
                <a:latin typeface="Rubik Bold"/>
                <a:ea typeface="Rubik Bold"/>
                <a:cs typeface="Rubik Bold"/>
                <a:sym typeface="Rubik Bold"/>
                <a:rtl val="true"/>
              </a:rPr>
              <a:t>תחרות הכנה</a:t>
            </a:r>
          </a:p>
        </p:txBody>
      </p:sp>
      <p:sp>
        <p:nvSpPr>
          <p:cNvPr name="TextBox 48" id="48"/>
          <p:cNvSpPr txBox="true"/>
          <p:nvPr/>
        </p:nvSpPr>
        <p:spPr>
          <a:xfrm rot="0">
            <a:off x="928688" y="5062538"/>
            <a:ext cx="3857625" cy="1023938"/>
          </a:xfrm>
          <a:prstGeom prst="rect">
            <a:avLst/>
          </a:prstGeom>
        </p:spPr>
        <p:txBody>
          <a:bodyPr anchor="t" rtlCol="false" tIns="0" lIns="0" bIns="0" rIns="0">
            <a:spAutoFit/>
          </a:bodyPr>
          <a:lstStyle/>
          <a:p>
            <a:pPr algn="ctr" rtl="true">
              <a:lnSpc>
                <a:spcPts val="3415"/>
              </a:lnSpc>
            </a:pPr>
            <a:r>
              <a:rPr lang="he-IL" sz="2587">
                <a:solidFill>
                  <a:srgbClr val="FFFFFF"/>
                </a:solidFill>
                <a:latin typeface="Rubik"/>
                <a:ea typeface="Rubik"/>
                <a:cs typeface="Rubik"/>
                <a:sym typeface="Rubik"/>
                <a:rtl val="true"/>
              </a:rPr>
              <a:t>התנסות לקראת העונה</a:t>
            </a:r>
          </a:p>
        </p:txBody>
      </p:sp>
      <p:sp>
        <p:nvSpPr>
          <p:cNvPr name="TextBox 49" id="49"/>
          <p:cNvSpPr txBox="true"/>
          <p:nvPr/>
        </p:nvSpPr>
        <p:spPr>
          <a:xfrm rot="0">
            <a:off x="13787438" y="6219825"/>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עד תחילת ינואר</a:t>
            </a:r>
          </a:p>
        </p:txBody>
      </p:sp>
      <p:sp>
        <p:nvSpPr>
          <p:cNvPr name="TextBox 50" id="50"/>
          <p:cNvSpPr txBox="true"/>
          <p:nvPr/>
        </p:nvSpPr>
        <p:spPr>
          <a:xfrm rot="0">
            <a:off x="13787438" y="7253287"/>
            <a:ext cx="3857625" cy="661987"/>
          </a:xfrm>
          <a:prstGeom prst="rect">
            <a:avLst/>
          </a:prstGeom>
        </p:spPr>
        <p:txBody>
          <a:bodyPr anchor="t" rtlCol="false" tIns="0" lIns="0" bIns="0" rIns="0">
            <a:spAutoFit/>
          </a:bodyPr>
          <a:lstStyle/>
          <a:p>
            <a:pPr algn="ctr" rtl="true">
              <a:lnSpc>
                <a:spcPts val="4009"/>
              </a:lnSpc>
            </a:pPr>
            <a:r>
              <a:rPr lang="he-IL" b="true" sz="3037">
                <a:solidFill>
                  <a:srgbClr val="FFFFFF"/>
                </a:solidFill>
                <a:latin typeface="Rubik Bold"/>
                <a:ea typeface="Rubik Bold"/>
                <a:cs typeface="Rubik Bold"/>
                <a:sym typeface="Rubik Bold"/>
                <a:rtl val="true"/>
              </a:rPr>
              <a:t>המשך ההכשרות</a:t>
            </a:r>
          </a:p>
        </p:txBody>
      </p:sp>
      <p:sp>
        <p:nvSpPr>
          <p:cNvPr name="TextBox 51" id="51"/>
          <p:cNvSpPr txBox="true"/>
          <p:nvPr/>
        </p:nvSpPr>
        <p:spPr>
          <a:xfrm rot="0">
            <a:off x="13787438" y="8001000"/>
            <a:ext cx="3857625" cy="1071563"/>
          </a:xfrm>
          <a:prstGeom prst="rect">
            <a:avLst/>
          </a:prstGeom>
        </p:spPr>
        <p:txBody>
          <a:bodyPr anchor="t" rtlCol="false" tIns="0" lIns="0" bIns="0" rIns="0">
            <a:spAutoFit/>
          </a:bodyPr>
          <a:lstStyle/>
          <a:p>
            <a:pPr algn="ctr" rtl="true">
              <a:lnSpc>
                <a:spcPts val="3267"/>
              </a:lnSpc>
            </a:pPr>
            <a:r>
              <a:rPr lang="he-IL" sz="2475">
                <a:solidFill>
                  <a:srgbClr val="FFFFFF"/>
                </a:solidFill>
                <a:latin typeface="Rubik"/>
                <a:ea typeface="Rubik"/>
                <a:cs typeface="Rubik"/>
                <a:sym typeface="Rubik"/>
                <a:rtl val="true"/>
              </a:rPr>
              <a:t>סיורים, הרצאות</a:t>
            </a:r>
          </a:p>
          <a:p>
            <a:pPr algn="ctr" rtl="true">
              <a:lnSpc>
                <a:spcPts val="3267"/>
              </a:lnSpc>
            </a:pPr>
            <a:r>
              <a:rPr lang="he-IL" sz="2475">
                <a:solidFill>
                  <a:srgbClr val="FFFFFF"/>
                </a:solidFill>
                <a:latin typeface="Rubik"/>
                <a:ea typeface="Rubik"/>
                <a:cs typeface="Rubik"/>
                <a:sym typeface="Rubik"/>
                <a:rtl val="true"/>
              </a:rPr>
              <a:t>ותכנים מעניינים נוספים</a:t>
            </a:r>
          </a:p>
        </p:txBody>
      </p:sp>
      <p:sp>
        <p:nvSpPr>
          <p:cNvPr name="TextBox 52" id="52"/>
          <p:cNvSpPr txBox="true"/>
          <p:nvPr/>
        </p:nvSpPr>
        <p:spPr>
          <a:xfrm rot="0">
            <a:off x="9501188" y="6219825"/>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ינואר–סוף אפריל</a:t>
            </a:r>
          </a:p>
        </p:txBody>
      </p:sp>
      <p:sp>
        <p:nvSpPr>
          <p:cNvPr name="TextBox 53" id="53"/>
          <p:cNvSpPr txBox="true"/>
          <p:nvPr/>
        </p:nvSpPr>
        <p:spPr>
          <a:xfrm rot="0">
            <a:off x="9501188" y="7253287"/>
            <a:ext cx="3857625" cy="661987"/>
          </a:xfrm>
          <a:prstGeom prst="rect">
            <a:avLst/>
          </a:prstGeom>
        </p:spPr>
        <p:txBody>
          <a:bodyPr anchor="t" rtlCol="false" tIns="0" lIns="0" bIns="0" rIns="0">
            <a:spAutoFit/>
          </a:bodyPr>
          <a:lstStyle/>
          <a:p>
            <a:pPr algn="ctr" rtl="true">
              <a:lnSpc>
                <a:spcPts val="4009"/>
              </a:lnSpc>
            </a:pPr>
            <a:r>
              <a:rPr lang="he-IL" b="true" sz="3037">
                <a:solidFill>
                  <a:srgbClr val="FFFFFF"/>
                </a:solidFill>
                <a:latin typeface="Rubik Bold"/>
                <a:ea typeface="Rubik Bold"/>
                <a:cs typeface="Rubik Bold"/>
                <a:sym typeface="Rubik Bold"/>
                <a:rtl val="true"/>
              </a:rPr>
              <a:t>קיקאוף ועונת </a:t>
            </a:r>
            <a:r>
              <a:rPr lang="en-US" b="true" sz="3037">
                <a:solidFill>
                  <a:srgbClr val="FFFFFF"/>
                </a:solidFill>
                <a:latin typeface="Rubik Bold"/>
                <a:ea typeface="Rubik Bold"/>
                <a:cs typeface="Rubik Bold"/>
                <a:sym typeface="Rubik Bold"/>
              </a:rPr>
              <a:t>2027</a:t>
            </a:r>
          </a:p>
        </p:txBody>
      </p:sp>
      <p:sp>
        <p:nvSpPr>
          <p:cNvPr name="TextBox 54" id="54"/>
          <p:cNvSpPr txBox="true"/>
          <p:nvPr/>
        </p:nvSpPr>
        <p:spPr>
          <a:xfrm rot="0">
            <a:off x="9322021" y="8001000"/>
            <a:ext cx="4415983" cy="810006"/>
          </a:xfrm>
          <a:prstGeom prst="rect">
            <a:avLst/>
          </a:prstGeom>
        </p:spPr>
        <p:txBody>
          <a:bodyPr anchor="t" rtlCol="false" tIns="0" lIns="0" bIns="0" rIns="0">
            <a:spAutoFit/>
          </a:bodyPr>
          <a:lstStyle/>
          <a:p>
            <a:pPr algn="ctr" rtl="true">
              <a:lnSpc>
                <a:spcPts val="3267"/>
              </a:lnSpc>
            </a:pPr>
            <a:r>
              <a:rPr lang="he-IL" sz="2475">
                <a:solidFill>
                  <a:srgbClr val="FFFFFF"/>
                </a:solidFill>
                <a:latin typeface="Rubik"/>
                <a:ea typeface="Rubik"/>
                <a:cs typeface="Rubik"/>
                <a:sym typeface="Rubik"/>
                <a:rtl val="true"/>
              </a:rPr>
              <a:t>תהליך בניית רובוט חדש לאתגר </a:t>
            </a:r>
            <a:r>
              <a:rPr lang="en-US" sz="2475">
                <a:solidFill>
                  <a:srgbClr val="FFFFFF"/>
                </a:solidFill>
                <a:latin typeface="Rubik"/>
                <a:ea typeface="Rubik"/>
                <a:cs typeface="Rubik"/>
                <a:sym typeface="Rubik"/>
              </a:rPr>
              <a:t>2027</a:t>
            </a:r>
            <a:r>
              <a:rPr lang="he-IL" sz="2475">
                <a:solidFill>
                  <a:srgbClr val="FFFFFF"/>
                </a:solidFill>
                <a:latin typeface="Rubik"/>
                <a:ea typeface="Rubik"/>
                <a:cs typeface="Rubik"/>
                <a:sym typeface="Rubik"/>
                <a:rtl val="true"/>
              </a:rPr>
              <a:t> בעזרת ההכשרות שלמדנו.</a:t>
            </a:r>
          </a:p>
        </p:txBody>
      </p:sp>
      <p:sp>
        <p:nvSpPr>
          <p:cNvPr name="TextBox 55" id="55"/>
          <p:cNvSpPr txBox="true"/>
          <p:nvPr/>
        </p:nvSpPr>
        <p:spPr>
          <a:xfrm rot="0">
            <a:off x="5214938" y="6219825"/>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מרץ–אפריל</a:t>
            </a:r>
          </a:p>
        </p:txBody>
      </p:sp>
      <p:sp>
        <p:nvSpPr>
          <p:cNvPr name="TextBox 56" id="56"/>
          <p:cNvSpPr txBox="true"/>
          <p:nvPr/>
        </p:nvSpPr>
        <p:spPr>
          <a:xfrm rot="0">
            <a:off x="5214938" y="7253287"/>
            <a:ext cx="3857625" cy="661987"/>
          </a:xfrm>
          <a:prstGeom prst="rect">
            <a:avLst/>
          </a:prstGeom>
        </p:spPr>
        <p:txBody>
          <a:bodyPr anchor="t" rtlCol="false" tIns="0" lIns="0" bIns="0" rIns="0">
            <a:spAutoFit/>
          </a:bodyPr>
          <a:lstStyle/>
          <a:p>
            <a:pPr algn="ctr" rtl="true">
              <a:lnSpc>
                <a:spcPts val="4009"/>
              </a:lnSpc>
            </a:pPr>
            <a:r>
              <a:rPr lang="he-IL" b="true" sz="3037">
                <a:solidFill>
                  <a:srgbClr val="FFFFFF"/>
                </a:solidFill>
                <a:latin typeface="Rubik Bold"/>
                <a:ea typeface="Rubik Bold"/>
                <a:cs typeface="Rubik Bold"/>
                <a:sym typeface="Rubik Bold"/>
                <a:rtl val="true"/>
              </a:rPr>
              <a:t>תחרויות</a:t>
            </a:r>
          </a:p>
        </p:txBody>
      </p:sp>
      <p:sp>
        <p:nvSpPr>
          <p:cNvPr name="TextBox 57" id="57"/>
          <p:cNvSpPr txBox="true"/>
          <p:nvPr/>
        </p:nvSpPr>
        <p:spPr>
          <a:xfrm rot="0">
            <a:off x="5214938" y="8001000"/>
            <a:ext cx="3857625" cy="1071563"/>
          </a:xfrm>
          <a:prstGeom prst="rect">
            <a:avLst/>
          </a:prstGeom>
        </p:spPr>
        <p:txBody>
          <a:bodyPr anchor="t" rtlCol="false" tIns="0" lIns="0" bIns="0" rIns="0">
            <a:spAutoFit/>
          </a:bodyPr>
          <a:lstStyle/>
          <a:p>
            <a:pPr algn="ctr" rtl="true">
              <a:lnSpc>
                <a:spcPts val="3267"/>
              </a:lnSpc>
            </a:pPr>
            <a:r>
              <a:rPr lang="he-IL" sz="2475">
                <a:solidFill>
                  <a:srgbClr val="FFFFFF"/>
                </a:solidFill>
                <a:latin typeface="Rubik"/>
                <a:ea typeface="Rubik"/>
                <a:cs typeface="Rubik"/>
                <a:sym typeface="Rubik"/>
                <a:rtl val="true"/>
              </a:rPr>
              <a:t>בארץ ובעולם</a:t>
            </a:r>
          </a:p>
        </p:txBody>
      </p:sp>
      <p:sp>
        <p:nvSpPr>
          <p:cNvPr name="TextBox 58" id="58"/>
          <p:cNvSpPr txBox="true"/>
          <p:nvPr/>
        </p:nvSpPr>
        <p:spPr>
          <a:xfrm rot="0">
            <a:off x="928688" y="6219825"/>
            <a:ext cx="3857625" cy="581025"/>
          </a:xfrm>
          <a:prstGeom prst="rect">
            <a:avLst/>
          </a:prstGeom>
        </p:spPr>
        <p:txBody>
          <a:bodyPr anchor="t" rtlCol="false" tIns="0" lIns="0" bIns="0" rIns="0">
            <a:spAutoFit/>
          </a:bodyPr>
          <a:lstStyle/>
          <a:p>
            <a:pPr algn="ctr" rtl="true">
              <a:lnSpc>
                <a:spcPts val="3415"/>
              </a:lnSpc>
            </a:pPr>
            <a:r>
              <a:rPr lang="he-IL" b="true" sz="2587">
                <a:solidFill>
                  <a:srgbClr val="FFDBA2"/>
                </a:solidFill>
                <a:latin typeface="Rubik Bold"/>
                <a:ea typeface="Rubik Bold"/>
                <a:cs typeface="Rubik Bold"/>
                <a:sym typeface="Rubik Bold"/>
                <a:rtl val="true"/>
              </a:rPr>
              <a:t>לאורך השנה</a:t>
            </a:r>
          </a:p>
        </p:txBody>
      </p:sp>
      <p:sp>
        <p:nvSpPr>
          <p:cNvPr name="TextBox 59" id="59"/>
          <p:cNvSpPr txBox="true"/>
          <p:nvPr/>
        </p:nvSpPr>
        <p:spPr>
          <a:xfrm rot="0">
            <a:off x="928688" y="7253287"/>
            <a:ext cx="3857625" cy="661987"/>
          </a:xfrm>
          <a:prstGeom prst="rect">
            <a:avLst/>
          </a:prstGeom>
        </p:spPr>
        <p:txBody>
          <a:bodyPr anchor="t" rtlCol="false" tIns="0" lIns="0" bIns="0" rIns="0">
            <a:spAutoFit/>
          </a:bodyPr>
          <a:lstStyle/>
          <a:p>
            <a:pPr algn="ctr" rtl="true">
              <a:lnSpc>
                <a:spcPts val="4009"/>
              </a:lnSpc>
            </a:pPr>
            <a:r>
              <a:rPr lang="he-IL" b="true" sz="3037">
                <a:solidFill>
                  <a:srgbClr val="FFFFFF"/>
                </a:solidFill>
                <a:latin typeface="Rubik Bold"/>
                <a:ea typeface="Rubik Bold"/>
                <a:cs typeface="Rubik Bold"/>
                <a:sym typeface="Rubik Bold"/>
                <a:rtl val="true"/>
              </a:rPr>
              <a:t>פעילויות והפתעות</a:t>
            </a:r>
          </a:p>
        </p:txBody>
      </p:sp>
      <p:sp>
        <p:nvSpPr>
          <p:cNvPr name="TextBox 60" id="60"/>
          <p:cNvSpPr txBox="true"/>
          <p:nvPr/>
        </p:nvSpPr>
        <p:spPr>
          <a:xfrm rot="0">
            <a:off x="928688" y="8001000"/>
            <a:ext cx="3857625" cy="810006"/>
          </a:xfrm>
          <a:prstGeom prst="rect">
            <a:avLst/>
          </a:prstGeom>
        </p:spPr>
        <p:txBody>
          <a:bodyPr anchor="t" rtlCol="false" tIns="0" lIns="0" bIns="0" rIns="0">
            <a:spAutoFit/>
          </a:bodyPr>
          <a:lstStyle/>
          <a:p>
            <a:pPr algn="ctr" rtl="true">
              <a:lnSpc>
                <a:spcPts val="3267"/>
              </a:lnSpc>
            </a:pPr>
            <a:r>
              <a:rPr lang="he-IL" sz="2475">
                <a:solidFill>
                  <a:srgbClr val="FFFFFF"/>
                </a:solidFill>
                <a:latin typeface="Rubik"/>
                <a:ea typeface="Rubik"/>
                <a:cs typeface="Rubik"/>
                <a:sym typeface="Rubik"/>
                <a:rtl val="true"/>
              </a:rPr>
              <a:t>ועוד הרבה דברים מעניינים</a:t>
            </a:r>
          </a:p>
          <a:p>
            <a:pPr algn="ctr" rtl="true">
              <a:lnSpc>
                <a:spcPts val="3267"/>
              </a:lnSpc>
            </a:pPr>
            <a:r>
              <a:rPr lang="he-IL" sz="2475">
                <a:solidFill>
                  <a:srgbClr val="FFFFFF"/>
                </a:solidFill>
                <a:latin typeface="Rubik"/>
                <a:ea typeface="Rubik"/>
                <a:cs typeface="Rubik"/>
                <a:sym typeface="Rubik"/>
                <a:rtl val="true"/>
              </a:rPr>
              <a:t>ומיוחדים בהמשך השנה</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400300" y="861346"/>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4"/>
              <a:stretch>
                <a:fillRect l="0" t="0" r="0" b="-1"/>
              </a:stretch>
            </a:blipFill>
          </p:spPr>
        </p:sp>
      </p:grpSp>
      <p:grpSp>
        <p:nvGrpSpPr>
          <p:cNvPr name="Group 6" id="6"/>
          <p:cNvGrpSpPr/>
          <p:nvPr/>
        </p:nvGrpSpPr>
        <p:grpSpPr>
          <a:xfrm rot="0">
            <a:off x="914400" y="2471738"/>
            <a:ext cx="16459200" cy="14288"/>
            <a:chOff x="0" y="0"/>
            <a:chExt cx="21945600" cy="19050"/>
          </a:xfrm>
        </p:grpSpPr>
        <p:sp>
          <p:nvSpPr>
            <p:cNvPr name="Freeform 7" id="7"/>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F4D3A0">
                <a:alpha val="17255"/>
              </a:srgbClr>
            </a:solidFill>
          </p:spPr>
        </p:sp>
      </p:grpSp>
      <p:grpSp>
        <p:nvGrpSpPr>
          <p:cNvPr name="Group 8" id="8"/>
          <p:cNvGrpSpPr/>
          <p:nvPr/>
        </p:nvGrpSpPr>
        <p:grpSpPr>
          <a:xfrm rot="0">
            <a:off x="914400" y="9320974"/>
            <a:ext cx="3400425" cy="474736"/>
            <a:chOff x="0" y="0"/>
            <a:chExt cx="4533900" cy="632981"/>
          </a:xfrm>
        </p:grpSpPr>
        <p:sp>
          <p:nvSpPr>
            <p:cNvPr name="Freeform 9" id="9"/>
            <p:cNvSpPr/>
            <p:nvPr/>
          </p:nvSpPr>
          <p:spPr>
            <a:xfrm flipH="false" flipV="false" rot="0">
              <a:off x="0" y="0"/>
              <a:ext cx="4533900" cy="632968"/>
            </a:xfrm>
            <a:custGeom>
              <a:avLst/>
              <a:gdLst/>
              <a:ahLst/>
              <a:cxnLst/>
              <a:rect r="r" b="b" t="t" l="l"/>
              <a:pathLst>
                <a:path h="632968" w="4533900">
                  <a:moveTo>
                    <a:pt x="0" y="0"/>
                  </a:moveTo>
                  <a:lnTo>
                    <a:pt x="4533900" y="0"/>
                  </a:lnTo>
                  <a:lnTo>
                    <a:pt x="4533900" y="632968"/>
                  </a:lnTo>
                  <a:lnTo>
                    <a:pt x="0" y="632968"/>
                  </a:lnTo>
                  <a:lnTo>
                    <a:pt x="0" y="0"/>
                  </a:lnTo>
                  <a:close/>
                </a:path>
              </a:pathLst>
            </a:custGeom>
            <a:blipFill>
              <a:blip r:embed="rId5"/>
              <a:stretch>
                <a:fillRect l="0" t="0" r="0" b="-2"/>
              </a:stretch>
            </a:blipFill>
          </p:spPr>
        </p:sp>
      </p:grpSp>
      <p:grpSp>
        <p:nvGrpSpPr>
          <p:cNvPr name="Group 10" id="10"/>
          <p:cNvGrpSpPr/>
          <p:nvPr/>
        </p:nvGrpSpPr>
        <p:grpSpPr>
          <a:xfrm rot="0">
            <a:off x="12487275" y="5786438"/>
            <a:ext cx="4886325" cy="14288"/>
            <a:chOff x="0" y="0"/>
            <a:chExt cx="6515100" cy="19050"/>
          </a:xfrm>
        </p:grpSpPr>
        <p:sp>
          <p:nvSpPr>
            <p:cNvPr name="Freeform 11" id="11"/>
            <p:cNvSpPr/>
            <p:nvPr/>
          </p:nvSpPr>
          <p:spPr>
            <a:xfrm flipH="false" flipV="false" rot="0">
              <a:off x="0" y="0"/>
              <a:ext cx="6515100" cy="19050"/>
            </a:xfrm>
            <a:custGeom>
              <a:avLst/>
              <a:gdLst/>
              <a:ahLst/>
              <a:cxnLst/>
              <a:rect r="r" b="b" t="t" l="l"/>
              <a:pathLst>
                <a:path h="19050" w="6515100">
                  <a:moveTo>
                    <a:pt x="0" y="0"/>
                  </a:moveTo>
                  <a:lnTo>
                    <a:pt x="6515100" y="0"/>
                  </a:lnTo>
                  <a:lnTo>
                    <a:pt x="6515100" y="19050"/>
                  </a:lnTo>
                  <a:lnTo>
                    <a:pt x="0" y="19050"/>
                  </a:lnTo>
                  <a:close/>
                </a:path>
              </a:pathLst>
            </a:custGeom>
            <a:solidFill>
              <a:srgbClr val="F4D3A0">
                <a:alpha val="22745"/>
              </a:srgbClr>
            </a:solidFill>
          </p:spPr>
        </p:sp>
      </p:grpSp>
      <p:grpSp>
        <p:nvGrpSpPr>
          <p:cNvPr name="Group 12" id="12"/>
          <p:cNvGrpSpPr/>
          <p:nvPr/>
        </p:nvGrpSpPr>
        <p:grpSpPr>
          <a:xfrm rot="0">
            <a:off x="6700838" y="5786438"/>
            <a:ext cx="4886325" cy="14288"/>
            <a:chOff x="0" y="0"/>
            <a:chExt cx="6515100" cy="19050"/>
          </a:xfrm>
        </p:grpSpPr>
        <p:sp>
          <p:nvSpPr>
            <p:cNvPr name="Freeform 13" id="13"/>
            <p:cNvSpPr/>
            <p:nvPr/>
          </p:nvSpPr>
          <p:spPr>
            <a:xfrm flipH="false" flipV="false" rot="0">
              <a:off x="0" y="0"/>
              <a:ext cx="6515100" cy="19050"/>
            </a:xfrm>
            <a:custGeom>
              <a:avLst/>
              <a:gdLst/>
              <a:ahLst/>
              <a:cxnLst/>
              <a:rect r="r" b="b" t="t" l="l"/>
              <a:pathLst>
                <a:path h="19050" w="6515100">
                  <a:moveTo>
                    <a:pt x="0" y="0"/>
                  </a:moveTo>
                  <a:lnTo>
                    <a:pt x="6515100" y="0"/>
                  </a:lnTo>
                  <a:lnTo>
                    <a:pt x="6515100" y="19050"/>
                  </a:lnTo>
                  <a:lnTo>
                    <a:pt x="0" y="19050"/>
                  </a:lnTo>
                  <a:close/>
                </a:path>
              </a:pathLst>
            </a:custGeom>
            <a:solidFill>
              <a:srgbClr val="F4D3A0">
                <a:alpha val="22745"/>
              </a:srgbClr>
            </a:solidFill>
          </p:spPr>
        </p:sp>
      </p:grpSp>
      <p:grpSp>
        <p:nvGrpSpPr>
          <p:cNvPr name="Group 14" id="14"/>
          <p:cNvGrpSpPr/>
          <p:nvPr/>
        </p:nvGrpSpPr>
        <p:grpSpPr>
          <a:xfrm rot="0">
            <a:off x="914400" y="5786438"/>
            <a:ext cx="4886325" cy="14288"/>
            <a:chOff x="0" y="0"/>
            <a:chExt cx="6515100" cy="19050"/>
          </a:xfrm>
        </p:grpSpPr>
        <p:sp>
          <p:nvSpPr>
            <p:cNvPr name="Freeform 15" id="15"/>
            <p:cNvSpPr/>
            <p:nvPr/>
          </p:nvSpPr>
          <p:spPr>
            <a:xfrm flipH="false" flipV="false" rot="0">
              <a:off x="0" y="0"/>
              <a:ext cx="6515100" cy="19050"/>
            </a:xfrm>
            <a:custGeom>
              <a:avLst/>
              <a:gdLst/>
              <a:ahLst/>
              <a:cxnLst/>
              <a:rect r="r" b="b" t="t" l="l"/>
              <a:pathLst>
                <a:path h="19050" w="6515100">
                  <a:moveTo>
                    <a:pt x="0" y="0"/>
                  </a:moveTo>
                  <a:lnTo>
                    <a:pt x="6515100" y="0"/>
                  </a:lnTo>
                  <a:lnTo>
                    <a:pt x="6515100" y="19050"/>
                  </a:lnTo>
                  <a:lnTo>
                    <a:pt x="0" y="19050"/>
                  </a:lnTo>
                  <a:close/>
                </a:path>
              </a:pathLst>
            </a:custGeom>
            <a:solidFill>
              <a:srgbClr val="F4D3A0">
                <a:alpha val="22745"/>
              </a:srgbClr>
            </a:solidFill>
          </p:spPr>
        </p:sp>
      </p:grpSp>
      <p:sp>
        <p:nvSpPr>
          <p:cNvPr name="Freeform 16" id="16"/>
          <p:cNvSpPr/>
          <p:nvPr/>
        </p:nvSpPr>
        <p:spPr>
          <a:xfrm flipH="false" flipV="false" rot="0">
            <a:off x="12482512" y="2973210"/>
            <a:ext cx="1344206" cy="1344206"/>
          </a:xfrm>
          <a:custGeom>
            <a:avLst/>
            <a:gdLst/>
            <a:ahLst/>
            <a:cxnLst/>
            <a:rect r="r" b="b" t="t" l="l"/>
            <a:pathLst>
              <a:path h="1344206" w="1344206">
                <a:moveTo>
                  <a:pt x="0" y="0"/>
                </a:moveTo>
                <a:lnTo>
                  <a:pt x="1344207" y="0"/>
                </a:lnTo>
                <a:lnTo>
                  <a:pt x="1344207" y="1344206"/>
                </a:lnTo>
                <a:lnTo>
                  <a:pt x="0" y="13442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6700837" y="2962275"/>
            <a:ext cx="1336700" cy="1336700"/>
          </a:xfrm>
          <a:custGeom>
            <a:avLst/>
            <a:gdLst/>
            <a:ahLst/>
            <a:cxnLst/>
            <a:rect r="r" b="b" t="t" l="l"/>
            <a:pathLst>
              <a:path h="1336700" w="1336700">
                <a:moveTo>
                  <a:pt x="0" y="0"/>
                </a:moveTo>
                <a:lnTo>
                  <a:pt x="1336701" y="0"/>
                </a:lnTo>
                <a:lnTo>
                  <a:pt x="1336701" y="1336700"/>
                </a:lnTo>
                <a:lnTo>
                  <a:pt x="0" y="13367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914400" y="2962275"/>
            <a:ext cx="1355141" cy="1355141"/>
          </a:xfrm>
          <a:custGeom>
            <a:avLst/>
            <a:gdLst/>
            <a:ahLst/>
            <a:cxnLst/>
            <a:rect r="r" b="b" t="t" l="l"/>
            <a:pathLst>
              <a:path h="1355141" w="1355141">
                <a:moveTo>
                  <a:pt x="0" y="0"/>
                </a:moveTo>
                <a:lnTo>
                  <a:pt x="1355141" y="0"/>
                </a:lnTo>
                <a:lnTo>
                  <a:pt x="1355141" y="1355141"/>
                </a:lnTo>
                <a:lnTo>
                  <a:pt x="0" y="13551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2492038" y="6129338"/>
            <a:ext cx="1344206" cy="1344206"/>
          </a:xfrm>
          <a:custGeom>
            <a:avLst/>
            <a:gdLst/>
            <a:ahLst/>
            <a:cxnLst/>
            <a:rect r="r" b="b" t="t" l="l"/>
            <a:pathLst>
              <a:path h="1344206" w="1344206">
                <a:moveTo>
                  <a:pt x="0" y="0"/>
                </a:moveTo>
                <a:lnTo>
                  <a:pt x="1344206" y="0"/>
                </a:lnTo>
                <a:lnTo>
                  <a:pt x="1344206" y="1344206"/>
                </a:lnTo>
                <a:lnTo>
                  <a:pt x="0" y="134420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6700838" y="6129337"/>
            <a:ext cx="1337043" cy="1337043"/>
          </a:xfrm>
          <a:custGeom>
            <a:avLst/>
            <a:gdLst/>
            <a:ahLst/>
            <a:cxnLst/>
            <a:rect r="r" b="b" t="t" l="l"/>
            <a:pathLst>
              <a:path h="1337043" w="1337043">
                <a:moveTo>
                  <a:pt x="0" y="0"/>
                </a:moveTo>
                <a:lnTo>
                  <a:pt x="1337043" y="0"/>
                </a:lnTo>
                <a:lnTo>
                  <a:pt x="1337043" y="1337044"/>
                </a:lnTo>
                <a:lnTo>
                  <a:pt x="0" y="133704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0">
            <a:off x="1000125" y="6129338"/>
            <a:ext cx="1344206" cy="1344206"/>
          </a:xfrm>
          <a:custGeom>
            <a:avLst/>
            <a:gdLst/>
            <a:ahLst/>
            <a:cxnLst/>
            <a:rect r="r" b="b" t="t" l="l"/>
            <a:pathLst>
              <a:path h="1344206" w="1344206">
                <a:moveTo>
                  <a:pt x="0" y="0"/>
                </a:moveTo>
                <a:lnTo>
                  <a:pt x="1344206" y="0"/>
                </a:lnTo>
                <a:lnTo>
                  <a:pt x="1344206" y="1344206"/>
                </a:lnTo>
                <a:lnTo>
                  <a:pt x="0" y="134420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2" id="22"/>
          <p:cNvSpPr txBox="true"/>
          <p:nvPr/>
        </p:nvSpPr>
        <p:spPr>
          <a:xfrm rot="0">
            <a:off x="3071812" y="771525"/>
            <a:ext cx="14301788" cy="1228725"/>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הצוותים והתחומים שלנו</a:t>
            </a:r>
          </a:p>
        </p:txBody>
      </p:sp>
      <p:sp>
        <p:nvSpPr>
          <p:cNvPr name="TextBox 23" id="23"/>
          <p:cNvSpPr txBox="true"/>
          <p:nvPr/>
        </p:nvSpPr>
        <p:spPr>
          <a:xfrm rot="0">
            <a:off x="16430625" y="9401175"/>
            <a:ext cx="942975" cy="485775"/>
          </a:xfrm>
          <a:prstGeom prst="rect">
            <a:avLst/>
          </a:prstGeom>
        </p:spPr>
        <p:txBody>
          <a:bodyPr anchor="t" rtlCol="false" tIns="0" lIns="0" bIns="0" rIns="0">
            <a:spAutoFit/>
          </a:bodyPr>
          <a:lstStyle/>
          <a:p>
            <a:pPr algn="r">
              <a:lnSpc>
                <a:spcPts val="2970"/>
              </a:lnSpc>
            </a:pPr>
            <a:r>
              <a:rPr lang="en-US" sz="2250">
                <a:solidFill>
                  <a:srgbClr val="FFFFFF"/>
                </a:solidFill>
                <a:latin typeface="Rubik"/>
                <a:ea typeface="Rubik"/>
                <a:cs typeface="Rubik"/>
                <a:sym typeface="Rubik"/>
              </a:rPr>
              <a:t>06</a:t>
            </a:r>
          </a:p>
        </p:txBody>
      </p:sp>
      <p:sp>
        <p:nvSpPr>
          <p:cNvPr name="TextBox 24" id="24"/>
          <p:cNvSpPr txBox="true"/>
          <p:nvPr/>
        </p:nvSpPr>
        <p:spPr>
          <a:xfrm rot="0">
            <a:off x="12487275" y="3014662"/>
            <a:ext cx="4886325" cy="728662"/>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מכניקה</a:t>
            </a:r>
          </a:p>
        </p:txBody>
      </p:sp>
      <p:sp>
        <p:nvSpPr>
          <p:cNvPr name="TextBox 25" id="25"/>
          <p:cNvSpPr txBox="true"/>
          <p:nvPr/>
        </p:nvSpPr>
        <p:spPr>
          <a:xfrm rot="0">
            <a:off x="12487275" y="3876675"/>
            <a:ext cx="4886325" cy="1824038"/>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תכנון, בנייה והרכבה</a:t>
            </a:r>
          </a:p>
          <a:p>
            <a:pPr algn="r" rtl="true">
              <a:lnSpc>
                <a:spcPts val="3564"/>
              </a:lnSpc>
            </a:pPr>
            <a:r>
              <a:rPr lang="he-IL" sz="2700">
                <a:solidFill>
                  <a:srgbClr val="FFFFFF"/>
                </a:solidFill>
                <a:latin typeface="Rubik"/>
                <a:ea typeface="Rubik"/>
                <a:cs typeface="Rubik"/>
                <a:sym typeface="Rubik"/>
                <a:rtl val="true"/>
              </a:rPr>
              <a:t>של מנגנוני הרובוט</a:t>
            </a:r>
          </a:p>
          <a:p>
            <a:pPr algn="r" rtl="true">
              <a:lnSpc>
                <a:spcPts val="3564"/>
              </a:lnSpc>
            </a:pPr>
            <a:r>
              <a:rPr lang="he-IL" sz="2700">
                <a:solidFill>
                  <a:srgbClr val="FFFFFF"/>
                </a:solidFill>
                <a:latin typeface="Rubik"/>
                <a:ea typeface="Rubik"/>
                <a:cs typeface="Rubik"/>
                <a:sym typeface="Rubik"/>
                <a:rtl val="true"/>
              </a:rPr>
              <a:t>מידול בתלת־ממד</a:t>
            </a:r>
          </a:p>
          <a:p>
            <a:pPr algn="r" rtl="true">
              <a:lnSpc>
                <a:spcPts val="3564"/>
              </a:lnSpc>
            </a:pPr>
            <a:r>
              <a:rPr lang="he-IL" sz="2700">
                <a:solidFill>
                  <a:srgbClr val="FFFFFF"/>
                </a:solidFill>
                <a:latin typeface="Rubik"/>
                <a:ea typeface="Rubik"/>
                <a:cs typeface="Rubik"/>
                <a:sym typeface="Rubik"/>
                <a:rtl val="true"/>
              </a:rPr>
              <a:t>וייצור חלקים</a:t>
            </a:r>
          </a:p>
        </p:txBody>
      </p:sp>
      <p:sp>
        <p:nvSpPr>
          <p:cNvPr name="TextBox 26" id="26"/>
          <p:cNvSpPr txBox="true"/>
          <p:nvPr/>
        </p:nvSpPr>
        <p:spPr>
          <a:xfrm rot="0">
            <a:off x="6700838" y="3014662"/>
            <a:ext cx="4886325" cy="728662"/>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תוכנה</a:t>
            </a:r>
          </a:p>
        </p:txBody>
      </p:sp>
      <p:sp>
        <p:nvSpPr>
          <p:cNvPr name="TextBox 27" id="27"/>
          <p:cNvSpPr txBox="true"/>
          <p:nvPr/>
        </p:nvSpPr>
        <p:spPr>
          <a:xfrm rot="0">
            <a:off x="6700838" y="3876675"/>
            <a:ext cx="4886325" cy="1824038"/>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תכנות הרובוט</a:t>
            </a:r>
          </a:p>
          <a:p>
            <a:pPr algn="r" rtl="true">
              <a:lnSpc>
                <a:spcPts val="3564"/>
              </a:lnSpc>
            </a:pPr>
            <a:r>
              <a:rPr lang="he-IL" sz="2700">
                <a:solidFill>
                  <a:srgbClr val="FFFFFF"/>
                </a:solidFill>
                <a:latin typeface="Rubik"/>
                <a:ea typeface="Rubik"/>
                <a:cs typeface="Rubik"/>
                <a:sym typeface="Rubik"/>
                <a:rtl val="true"/>
              </a:rPr>
              <a:t>ובניית פעולות אוטונומיות</a:t>
            </a:r>
          </a:p>
          <a:p>
            <a:pPr algn="r" rtl="true">
              <a:lnSpc>
                <a:spcPts val="3564"/>
              </a:lnSpc>
            </a:pPr>
            <a:r>
              <a:rPr lang="he-IL" sz="2700">
                <a:solidFill>
                  <a:srgbClr val="FFFFFF"/>
                </a:solidFill>
                <a:latin typeface="Rubik"/>
                <a:ea typeface="Rubik"/>
                <a:cs typeface="Rubik"/>
                <a:sym typeface="Rubik"/>
                <a:rtl val="true"/>
              </a:rPr>
              <a:t>סימולציות ושילובי </a:t>
            </a:r>
            <a:r>
              <a:rPr lang="en-US" sz="2700">
                <a:solidFill>
                  <a:srgbClr val="FFFFFF"/>
                </a:solidFill>
                <a:latin typeface="Rubik"/>
                <a:ea typeface="Rubik"/>
                <a:cs typeface="Rubik"/>
                <a:sym typeface="Rubik"/>
              </a:rPr>
              <a:t>AI</a:t>
            </a:r>
          </a:p>
          <a:p>
            <a:pPr algn="r" rtl="true">
              <a:lnSpc>
                <a:spcPts val="3564"/>
              </a:lnSpc>
            </a:pPr>
            <a:r>
              <a:rPr lang="he-IL" sz="2700">
                <a:solidFill>
                  <a:srgbClr val="FFFFFF"/>
                </a:solidFill>
                <a:latin typeface="Rubik"/>
                <a:ea typeface="Rubik"/>
                <a:cs typeface="Rubik"/>
                <a:sym typeface="Rubik"/>
                <a:rtl val="true"/>
              </a:rPr>
              <a:t>בעולם התוכנה</a:t>
            </a:r>
          </a:p>
        </p:txBody>
      </p:sp>
      <p:sp>
        <p:nvSpPr>
          <p:cNvPr name="TextBox 28" id="28"/>
          <p:cNvSpPr txBox="true"/>
          <p:nvPr/>
        </p:nvSpPr>
        <p:spPr>
          <a:xfrm rot="0">
            <a:off x="914400" y="3014662"/>
            <a:ext cx="4886325" cy="728662"/>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חשמל</a:t>
            </a:r>
          </a:p>
        </p:txBody>
      </p:sp>
      <p:sp>
        <p:nvSpPr>
          <p:cNvPr name="TextBox 29" id="29"/>
          <p:cNvSpPr txBox="true"/>
          <p:nvPr/>
        </p:nvSpPr>
        <p:spPr>
          <a:xfrm rot="0">
            <a:off x="914400" y="3876675"/>
            <a:ext cx="4886325" cy="1824038"/>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חיווט, חיישנים והמערכת</a:t>
            </a:r>
          </a:p>
          <a:p>
            <a:pPr algn="r" rtl="true">
              <a:lnSpc>
                <a:spcPts val="3564"/>
              </a:lnSpc>
            </a:pPr>
            <a:r>
              <a:rPr lang="he-IL" sz="2700">
                <a:solidFill>
                  <a:srgbClr val="FFFFFF"/>
                </a:solidFill>
                <a:latin typeface="Rubik"/>
                <a:ea typeface="Rubik"/>
                <a:cs typeface="Rubik"/>
                <a:sym typeface="Rubik"/>
                <a:rtl val="true"/>
              </a:rPr>
              <a:t>החשמלית של הרובוט</a:t>
            </a:r>
          </a:p>
          <a:p>
            <a:pPr algn="r" rtl="true">
              <a:lnSpc>
                <a:spcPts val="3564"/>
              </a:lnSpc>
            </a:pPr>
            <a:r>
              <a:rPr lang="he-IL" sz="2700">
                <a:solidFill>
                  <a:srgbClr val="FFFFFF"/>
                </a:solidFill>
                <a:latin typeface="Rubik"/>
                <a:ea typeface="Rubik"/>
                <a:cs typeface="Rubik"/>
                <a:sym typeface="Rubik"/>
                <a:rtl val="true"/>
              </a:rPr>
              <a:t>מידול והדפסות בתלת־ממד</a:t>
            </a:r>
          </a:p>
        </p:txBody>
      </p:sp>
      <p:sp>
        <p:nvSpPr>
          <p:cNvPr name="TextBox 30" id="30"/>
          <p:cNvSpPr txBox="true"/>
          <p:nvPr/>
        </p:nvSpPr>
        <p:spPr>
          <a:xfrm rot="0">
            <a:off x="12487275" y="6072188"/>
            <a:ext cx="4886325" cy="728662"/>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יק״מ</a:t>
            </a:r>
          </a:p>
        </p:txBody>
      </p:sp>
      <p:sp>
        <p:nvSpPr>
          <p:cNvPr name="TextBox 31" id="31"/>
          <p:cNvSpPr txBox="true"/>
          <p:nvPr/>
        </p:nvSpPr>
        <p:spPr>
          <a:xfrm rot="0">
            <a:off x="12487275" y="6934200"/>
            <a:ext cx="4886325" cy="1824038"/>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קהילה ומדיה</a:t>
            </a:r>
          </a:p>
          <a:p>
            <a:pPr algn="r" rtl="true">
              <a:lnSpc>
                <a:spcPts val="3564"/>
              </a:lnSpc>
            </a:pPr>
            <a:r>
              <a:rPr lang="he-IL" sz="2700">
                <a:solidFill>
                  <a:srgbClr val="FFFFFF"/>
                </a:solidFill>
                <a:latin typeface="Rubik"/>
                <a:ea typeface="Rubik"/>
                <a:cs typeface="Rubik"/>
                <a:sym typeface="Rubik"/>
                <a:rtl val="true"/>
              </a:rPr>
              <a:t>הצגת הפעילות שלנו</a:t>
            </a:r>
          </a:p>
          <a:p>
            <a:pPr algn="r" rtl="true">
              <a:lnSpc>
                <a:spcPts val="3564"/>
              </a:lnSpc>
            </a:pPr>
            <a:r>
              <a:rPr lang="he-IL" sz="2700">
                <a:solidFill>
                  <a:srgbClr val="FFFFFF"/>
                </a:solidFill>
                <a:latin typeface="Rubik"/>
                <a:ea typeface="Rubik"/>
                <a:cs typeface="Rubik"/>
                <a:sym typeface="Rubik"/>
                <a:rtl val="true"/>
              </a:rPr>
              <a:t>גיוס כספים ותמיכה</a:t>
            </a:r>
          </a:p>
          <a:p>
            <a:pPr algn="r" rtl="true">
              <a:lnSpc>
                <a:spcPts val="3564"/>
              </a:lnSpc>
            </a:pPr>
            <a:r>
              <a:rPr lang="he-IL" sz="2700">
                <a:solidFill>
                  <a:srgbClr val="FFFFFF"/>
                </a:solidFill>
                <a:latin typeface="Rubik"/>
                <a:ea typeface="Rubik"/>
                <a:cs typeface="Rubik"/>
                <a:sym typeface="Rubik"/>
                <a:rtl val="true"/>
              </a:rPr>
              <a:t>וניהול רשתות חברתיות</a:t>
            </a:r>
          </a:p>
        </p:txBody>
      </p:sp>
      <p:sp>
        <p:nvSpPr>
          <p:cNvPr name="TextBox 32" id="32"/>
          <p:cNvSpPr txBox="true"/>
          <p:nvPr/>
        </p:nvSpPr>
        <p:spPr>
          <a:xfrm rot="0">
            <a:off x="6700838" y="6072188"/>
            <a:ext cx="4886325" cy="728662"/>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מגרש</a:t>
            </a:r>
          </a:p>
        </p:txBody>
      </p:sp>
      <p:sp>
        <p:nvSpPr>
          <p:cNvPr name="TextBox 33" id="33"/>
          <p:cNvSpPr txBox="true"/>
          <p:nvPr/>
        </p:nvSpPr>
        <p:spPr>
          <a:xfrm rot="0">
            <a:off x="8271167" y="6934200"/>
            <a:ext cx="3315995" cy="1787652"/>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נהיגה ברובוט, אסטרטגיה</a:t>
            </a:r>
          </a:p>
          <a:p>
            <a:pPr algn="r" rtl="true">
              <a:lnSpc>
                <a:spcPts val="3564"/>
              </a:lnSpc>
            </a:pPr>
            <a:r>
              <a:rPr lang="he-IL" sz="2700">
                <a:solidFill>
                  <a:srgbClr val="FFFFFF"/>
                </a:solidFill>
                <a:latin typeface="Rubik"/>
                <a:ea typeface="Rubik"/>
                <a:cs typeface="Rubik"/>
                <a:sym typeface="Rubik"/>
                <a:rtl val="true"/>
              </a:rPr>
              <a:t>ואימונים לקראת עלייה למגרש</a:t>
            </a:r>
          </a:p>
        </p:txBody>
      </p:sp>
      <p:sp>
        <p:nvSpPr>
          <p:cNvPr name="TextBox 34" id="34"/>
          <p:cNvSpPr txBox="true"/>
          <p:nvPr/>
        </p:nvSpPr>
        <p:spPr>
          <a:xfrm rot="0">
            <a:off x="914400" y="6072188"/>
            <a:ext cx="4886325" cy="728662"/>
          </a:xfrm>
          <a:prstGeom prst="rect">
            <a:avLst/>
          </a:prstGeom>
        </p:spPr>
        <p:txBody>
          <a:bodyPr anchor="t" rtlCol="false" tIns="0" lIns="0" bIns="0" rIns="0">
            <a:spAutoFit/>
          </a:bodyPr>
          <a:lstStyle/>
          <a:p>
            <a:pPr algn="r" rtl="true">
              <a:lnSpc>
                <a:spcPts val="5049"/>
              </a:lnSpc>
            </a:pPr>
            <a:r>
              <a:rPr lang="he-IL" b="true" sz="3825">
                <a:solidFill>
                  <a:srgbClr val="FFFFFF"/>
                </a:solidFill>
                <a:latin typeface="Rubik Bold"/>
                <a:ea typeface="Rubik Bold"/>
                <a:cs typeface="Rubik Bold"/>
                <a:sym typeface="Rubik Bold"/>
                <a:rtl val="true"/>
              </a:rPr>
              <a:t>הובלה</a:t>
            </a:r>
          </a:p>
        </p:txBody>
      </p:sp>
      <p:sp>
        <p:nvSpPr>
          <p:cNvPr name="TextBox 35" id="35"/>
          <p:cNvSpPr txBox="true"/>
          <p:nvPr/>
        </p:nvSpPr>
        <p:spPr>
          <a:xfrm rot="0">
            <a:off x="1880006" y="6934200"/>
            <a:ext cx="3920719" cy="1787652"/>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תיאום וניהול העבודה המשותפת</a:t>
            </a:r>
          </a:p>
          <a:p>
            <a:pPr algn="r" rtl="true">
              <a:lnSpc>
                <a:spcPts val="3564"/>
              </a:lnSpc>
            </a:pPr>
            <a:r>
              <a:rPr lang="he-IL" sz="2700">
                <a:solidFill>
                  <a:srgbClr val="FFFFFF"/>
                </a:solidFill>
                <a:latin typeface="Rubik"/>
                <a:ea typeface="Rubik"/>
                <a:cs typeface="Rubik"/>
                <a:sym typeface="Rubik"/>
                <a:rtl val="true"/>
              </a:rPr>
              <a:t>והובלת הנבחרת והצוותים</a:t>
            </a:r>
          </a:p>
          <a:p>
            <a:pPr algn="r" rtl="true">
              <a:lnSpc>
                <a:spcPts val="3564"/>
              </a:lnSpc>
            </a:pPr>
            <a:r>
              <a:rPr lang="he-IL" sz="2700">
                <a:solidFill>
                  <a:srgbClr val="FFFFFF"/>
                </a:solidFill>
                <a:latin typeface="Rubik"/>
                <a:ea typeface="Rubik"/>
                <a:cs typeface="Rubik"/>
                <a:sym typeface="Rubik"/>
                <a:rtl val="true"/>
              </a:rPr>
              <a:t>במהלך השנה</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400300" y="861346"/>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4"/>
              <a:stretch>
                <a:fillRect l="0" t="0" r="0" b="-1"/>
              </a:stretch>
            </a:blipFill>
          </p:spPr>
        </p:sp>
      </p:grpSp>
      <p:grpSp>
        <p:nvGrpSpPr>
          <p:cNvPr name="Group 6" id="6"/>
          <p:cNvGrpSpPr/>
          <p:nvPr/>
        </p:nvGrpSpPr>
        <p:grpSpPr>
          <a:xfrm rot="0">
            <a:off x="914400" y="2471738"/>
            <a:ext cx="16459200" cy="14288"/>
            <a:chOff x="0" y="0"/>
            <a:chExt cx="21945600" cy="19050"/>
          </a:xfrm>
        </p:grpSpPr>
        <p:sp>
          <p:nvSpPr>
            <p:cNvPr name="Freeform 7" id="7"/>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F4D3A0">
                <a:alpha val="17255"/>
              </a:srgbClr>
            </a:solidFill>
          </p:spPr>
        </p:sp>
      </p:grpSp>
      <p:grpSp>
        <p:nvGrpSpPr>
          <p:cNvPr name="Group 8" id="8"/>
          <p:cNvGrpSpPr/>
          <p:nvPr/>
        </p:nvGrpSpPr>
        <p:grpSpPr>
          <a:xfrm rot="0">
            <a:off x="914400" y="9320974"/>
            <a:ext cx="3400425" cy="474736"/>
            <a:chOff x="0" y="0"/>
            <a:chExt cx="4533900" cy="632981"/>
          </a:xfrm>
        </p:grpSpPr>
        <p:sp>
          <p:nvSpPr>
            <p:cNvPr name="Freeform 9" id="9"/>
            <p:cNvSpPr/>
            <p:nvPr/>
          </p:nvSpPr>
          <p:spPr>
            <a:xfrm flipH="false" flipV="false" rot="0">
              <a:off x="0" y="0"/>
              <a:ext cx="4533900" cy="632968"/>
            </a:xfrm>
            <a:custGeom>
              <a:avLst/>
              <a:gdLst/>
              <a:ahLst/>
              <a:cxnLst/>
              <a:rect r="r" b="b" t="t" l="l"/>
              <a:pathLst>
                <a:path h="632968" w="4533900">
                  <a:moveTo>
                    <a:pt x="0" y="0"/>
                  </a:moveTo>
                  <a:lnTo>
                    <a:pt x="4533900" y="0"/>
                  </a:lnTo>
                  <a:lnTo>
                    <a:pt x="4533900" y="632968"/>
                  </a:lnTo>
                  <a:lnTo>
                    <a:pt x="0" y="632968"/>
                  </a:lnTo>
                  <a:lnTo>
                    <a:pt x="0" y="0"/>
                  </a:lnTo>
                  <a:close/>
                </a:path>
              </a:pathLst>
            </a:custGeom>
            <a:blipFill>
              <a:blip r:embed="rId5"/>
              <a:stretch>
                <a:fillRect l="0" t="0" r="0" b="-2"/>
              </a:stretch>
            </a:blipFill>
          </p:spPr>
        </p:sp>
      </p:grpSp>
      <p:pic>
        <p:nvPicPr>
          <p:cNvPr name="Picture 10" id="10"/>
          <p:cNvPicPr>
            <a:picLocks noChangeAspect="true"/>
          </p:cNvPicPr>
          <p:nvPr/>
        </p:nvPicPr>
        <p:blipFill>
          <a:blip r:embed="rId6"/>
          <a:srcRect l="0" t="25054" r="0" b="23312"/>
          <a:stretch>
            <a:fillRect/>
          </a:stretch>
        </p:blipFill>
        <p:spPr>
          <a:xfrm flipH="false" flipV="false" rot="0">
            <a:off x="1408742" y="2962275"/>
            <a:ext cx="5456692" cy="5006157"/>
          </a:xfrm>
          <a:prstGeom prst="rect">
            <a:avLst/>
          </a:prstGeom>
        </p:spPr>
      </p:pic>
      <p:sp>
        <p:nvSpPr>
          <p:cNvPr name="TextBox 11" id="11"/>
          <p:cNvSpPr txBox="true"/>
          <p:nvPr/>
        </p:nvSpPr>
        <p:spPr>
          <a:xfrm rot="0">
            <a:off x="3071812" y="771525"/>
            <a:ext cx="14301788" cy="1228725"/>
          </a:xfrm>
          <a:prstGeom prst="rect">
            <a:avLst/>
          </a:prstGeom>
        </p:spPr>
        <p:txBody>
          <a:bodyPr anchor="t" rtlCol="false" tIns="0" lIns="0" bIns="0" rIns="0">
            <a:spAutoFit/>
          </a:bodyPr>
          <a:lstStyle/>
          <a:p>
            <a:pPr algn="r" rtl="true">
              <a:lnSpc>
                <a:spcPts val="8019"/>
              </a:lnSpc>
            </a:pPr>
            <a:r>
              <a:rPr lang="he-IL" b="true" sz="6075">
                <a:solidFill>
                  <a:srgbClr val="FFFFFF"/>
                </a:solidFill>
                <a:latin typeface="Rubik Bold"/>
                <a:ea typeface="Rubik Bold"/>
                <a:cs typeface="Rubik Bold"/>
                <a:sym typeface="Rubik Bold"/>
                <a:rtl val="true"/>
              </a:rPr>
              <a:t>איפה הבית שלנו נמצא</a:t>
            </a:r>
          </a:p>
        </p:txBody>
      </p:sp>
      <p:sp>
        <p:nvSpPr>
          <p:cNvPr name="TextBox 12" id="12"/>
          <p:cNvSpPr txBox="true"/>
          <p:nvPr/>
        </p:nvSpPr>
        <p:spPr>
          <a:xfrm rot="0">
            <a:off x="16430625" y="9401175"/>
            <a:ext cx="942975" cy="485775"/>
          </a:xfrm>
          <a:prstGeom prst="rect">
            <a:avLst/>
          </a:prstGeom>
        </p:spPr>
        <p:txBody>
          <a:bodyPr anchor="t" rtlCol="false" tIns="0" lIns="0" bIns="0" rIns="0">
            <a:spAutoFit/>
          </a:bodyPr>
          <a:lstStyle/>
          <a:p>
            <a:pPr algn="r">
              <a:lnSpc>
                <a:spcPts val="2970"/>
              </a:lnSpc>
            </a:pPr>
            <a:r>
              <a:rPr lang="en-US" sz="2250">
                <a:solidFill>
                  <a:srgbClr val="FFFFFF"/>
                </a:solidFill>
                <a:latin typeface="Rubik"/>
                <a:ea typeface="Rubik"/>
                <a:cs typeface="Rubik"/>
                <a:sym typeface="Rubik"/>
              </a:rPr>
              <a:t>07</a:t>
            </a:r>
          </a:p>
        </p:txBody>
      </p:sp>
      <p:sp>
        <p:nvSpPr>
          <p:cNvPr name="TextBox 13" id="13"/>
          <p:cNvSpPr txBox="true"/>
          <p:nvPr/>
        </p:nvSpPr>
        <p:spPr>
          <a:xfrm rot="0">
            <a:off x="8772525" y="2981325"/>
            <a:ext cx="8601075" cy="661987"/>
          </a:xfrm>
          <a:prstGeom prst="rect">
            <a:avLst/>
          </a:prstGeom>
        </p:spPr>
        <p:txBody>
          <a:bodyPr anchor="t" rtlCol="false" tIns="0" lIns="0" bIns="0" rIns="0">
            <a:spAutoFit/>
          </a:bodyPr>
          <a:lstStyle/>
          <a:p>
            <a:pPr algn="r" rtl="true">
              <a:lnSpc>
                <a:spcPts val="4009"/>
              </a:lnSpc>
            </a:pPr>
            <a:r>
              <a:rPr lang="he-IL" b="true" sz="3037">
                <a:solidFill>
                  <a:srgbClr val="FFFFFF"/>
                </a:solidFill>
                <a:latin typeface="Rubik Bold"/>
                <a:ea typeface="Rubik Bold"/>
                <a:cs typeface="Rubik Bold"/>
                <a:sym typeface="Rubik Bold"/>
                <a:rtl val="true"/>
              </a:rPr>
              <a:t>הבית שלנו נמצא ממש כאן בבית הספר.</a:t>
            </a:r>
          </a:p>
        </p:txBody>
      </p:sp>
      <p:sp>
        <p:nvSpPr>
          <p:cNvPr name="TextBox 14" id="14"/>
          <p:cNvSpPr txBox="true"/>
          <p:nvPr/>
        </p:nvSpPr>
        <p:spPr>
          <a:xfrm rot="0">
            <a:off x="8772525" y="3838575"/>
            <a:ext cx="8601075" cy="619125"/>
          </a:xfrm>
          <a:prstGeom prst="rect">
            <a:avLst/>
          </a:prstGeom>
        </p:spPr>
        <p:txBody>
          <a:bodyPr anchor="t" rtlCol="false" tIns="0" lIns="0" bIns="0" rIns="0">
            <a:spAutoFit/>
          </a:bodyPr>
          <a:lstStyle/>
          <a:p>
            <a:pPr algn="r" rtl="true">
              <a:lnSpc>
                <a:spcPts val="4009"/>
              </a:lnSpc>
            </a:pPr>
            <a:r>
              <a:rPr lang="he-IL" b="true" sz="3037">
                <a:solidFill>
                  <a:srgbClr val="FFFFFF"/>
                </a:solidFill>
                <a:latin typeface="Rubik Bold"/>
                <a:ea typeface="Rubik Bold"/>
                <a:cs typeface="Rubik Bold"/>
                <a:sym typeface="Rubik Bold"/>
                <a:rtl val="true"/>
              </a:rPr>
              <a:t>סדנת העבודה</a:t>
            </a:r>
          </a:p>
        </p:txBody>
      </p:sp>
      <p:sp>
        <p:nvSpPr>
          <p:cNvPr name="TextBox 15" id="15"/>
          <p:cNvSpPr txBox="true"/>
          <p:nvPr/>
        </p:nvSpPr>
        <p:spPr>
          <a:xfrm rot="0">
            <a:off x="8772525" y="4448175"/>
            <a:ext cx="8601075" cy="981075"/>
          </a:xfrm>
          <a:prstGeom prst="rect">
            <a:avLst/>
          </a:prstGeom>
        </p:spPr>
        <p:txBody>
          <a:bodyPr anchor="t" rtlCol="false" tIns="0" lIns="0" bIns="0" rIns="0">
            <a:spAutoFit/>
          </a:bodyPr>
          <a:lstStyle/>
          <a:p>
            <a:pPr algn="r" rtl="true">
              <a:lnSpc>
                <a:spcPts val="3564"/>
              </a:lnSpc>
            </a:pPr>
            <a:r>
              <a:rPr lang="he-IL" sz="2700">
                <a:solidFill>
                  <a:srgbClr val="FFFFFF"/>
                </a:solidFill>
                <a:latin typeface="Rubik"/>
                <a:ea typeface="Rubik"/>
                <a:cs typeface="Rubik"/>
                <a:sym typeface="Rubik"/>
                <a:rtl val="true"/>
              </a:rPr>
              <a:t>כלים, חומרים ומכונות לעבודה</a:t>
            </a:r>
          </a:p>
          <a:p>
            <a:pPr algn="r" rtl="true">
              <a:lnSpc>
                <a:spcPts val="3564"/>
              </a:lnSpc>
            </a:pPr>
            <a:r>
              <a:rPr lang="he-IL" sz="2700">
                <a:solidFill>
                  <a:srgbClr val="FFFFFF"/>
                </a:solidFill>
                <a:latin typeface="Rubik"/>
                <a:ea typeface="Rubik"/>
                <a:cs typeface="Rubik"/>
                <a:sym typeface="Rubik"/>
                <a:rtl val="true"/>
              </a:rPr>
              <a:t>על הפרויקטים שלנו לאורך השנה.</a:t>
            </a:r>
          </a:p>
        </p:txBody>
      </p:sp>
      <p:sp>
        <p:nvSpPr>
          <p:cNvPr name="TextBox 16" id="16"/>
          <p:cNvSpPr txBox="true"/>
          <p:nvPr/>
        </p:nvSpPr>
        <p:spPr>
          <a:xfrm rot="0">
            <a:off x="8772525" y="5524500"/>
            <a:ext cx="8601075" cy="619125"/>
          </a:xfrm>
          <a:prstGeom prst="rect">
            <a:avLst/>
          </a:prstGeom>
        </p:spPr>
        <p:txBody>
          <a:bodyPr anchor="t" rtlCol="false" tIns="0" lIns="0" bIns="0" rIns="0">
            <a:spAutoFit/>
          </a:bodyPr>
          <a:lstStyle/>
          <a:p>
            <a:pPr algn="r" rtl="true">
              <a:lnSpc>
                <a:spcPts val="4009"/>
              </a:lnSpc>
            </a:pPr>
            <a:r>
              <a:rPr lang="he-IL" b="true" sz="3037">
                <a:solidFill>
                  <a:srgbClr val="FFFFFF"/>
                </a:solidFill>
                <a:latin typeface="Rubik Bold"/>
                <a:ea typeface="Rubik Bold"/>
                <a:cs typeface="Rubik Bold"/>
                <a:sym typeface="Rubik Bold"/>
                <a:rtl val="true"/>
              </a:rPr>
              <a:t>מרכז היזמות והרובוטיקה</a:t>
            </a:r>
          </a:p>
        </p:txBody>
      </p:sp>
      <p:sp>
        <p:nvSpPr>
          <p:cNvPr name="TextBox 17" id="17"/>
          <p:cNvSpPr txBox="true"/>
          <p:nvPr/>
        </p:nvSpPr>
        <p:spPr>
          <a:xfrm rot="0">
            <a:off x="8772525" y="6134100"/>
            <a:ext cx="8601075" cy="1266825"/>
          </a:xfrm>
          <a:prstGeom prst="rect">
            <a:avLst/>
          </a:prstGeom>
        </p:spPr>
        <p:txBody>
          <a:bodyPr anchor="t" rtlCol="false" tIns="0" lIns="0" bIns="0" rIns="0">
            <a:spAutoFit/>
          </a:bodyPr>
          <a:lstStyle/>
          <a:p>
            <a:pPr algn="r" rtl="true">
              <a:lnSpc>
                <a:spcPts val="3415"/>
              </a:lnSpc>
            </a:pPr>
            <a:r>
              <a:rPr lang="he-IL" sz="2587">
                <a:solidFill>
                  <a:srgbClr val="FFFFFF"/>
                </a:solidFill>
                <a:latin typeface="Rubik"/>
                <a:ea typeface="Rubik"/>
                <a:cs typeface="Rubik"/>
                <a:sym typeface="Rubik"/>
                <a:rtl val="true"/>
              </a:rPr>
              <a:t>באשכול פיס, שבו השיפוץ יסתיים בקרוב.</a:t>
            </a:r>
          </a:p>
          <a:p>
            <a:pPr algn="r" rtl="true">
              <a:lnSpc>
                <a:spcPts val="3415"/>
              </a:lnSpc>
            </a:pPr>
            <a:r>
              <a:rPr lang="he-IL" sz="2587">
                <a:solidFill>
                  <a:srgbClr val="FFFFFF"/>
                </a:solidFill>
                <a:latin typeface="Rubik"/>
                <a:ea typeface="Rubik"/>
                <a:cs typeface="Rubik"/>
                <a:sym typeface="Rubik"/>
                <a:rtl val="true"/>
              </a:rPr>
              <a:t>כאן נפגשים לפגישות קבוצה, הרצאות ואירועים,</a:t>
            </a:r>
          </a:p>
          <a:p>
            <a:pPr algn="r" rtl="true">
              <a:lnSpc>
                <a:spcPts val="3415"/>
              </a:lnSpc>
            </a:pPr>
            <a:r>
              <a:rPr lang="he-IL" sz="2587">
                <a:solidFill>
                  <a:srgbClr val="FFFFFF"/>
                </a:solidFill>
                <a:latin typeface="Rubik"/>
                <a:ea typeface="Rubik"/>
                <a:cs typeface="Rubik"/>
                <a:sym typeface="Rubik"/>
                <a:rtl val="true"/>
              </a:rPr>
              <a:t>ובעונת התחרויות נמצא כאן גם מגרש העונה.</a:t>
            </a:r>
          </a:p>
        </p:txBody>
      </p:sp>
      <p:sp>
        <p:nvSpPr>
          <p:cNvPr name="TextBox 18" id="18"/>
          <p:cNvSpPr txBox="true"/>
          <p:nvPr/>
        </p:nvSpPr>
        <p:spPr>
          <a:xfrm rot="0">
            <a:off x="8772525" y="7480554"/>
            <a:ext cx="8601075" cy="506159"/>
          </a:xfrm>
          <a:prstGeom prst="rect">
            <a:avLst/>
          </a:prstGeom>
        </p:spPr>
        <p:txBody>
          <a:bodyPr anchor="t" rtlCol="false" tIns="0" lIns="0" bIns="0" rIns="0">
            <a:spAutoFit/>
          </a:bodyPr>
          <a:lstStyle/>
          <a:p>
            <a:pPr algn="r" rtl="true">
              <a:lnSpc>
                <a:spcPts val="4009"/>
              </a:lnSpc>
            </a:pPr>
            <a:r>
              <a:rPr lang="he-IL" b="true" sz="3037">
                <a:solidFill>
                  <a:srgbClr val="FFFFFF"/>
                </a:solidFill>
                <a:latin typeface="Rubik Bold"/>
                <a:ea typeface="Rubik Bold"/>
                <a:cs typeface="Rubik Bold"/>
                <a:sym typeface="Rubik Bold"/>
                <a:rtl val="true"/>
              </a:rPr>
              <a:t>גם הבית שלכם במהלך היום</a:t>
            </a:r>
          </a:p>
        </p:txBody>
      </p:sp>
      <p:sp>
        <p:nvSpPr>
          <p:cNvPr name="TextBox 19" id="19"/>
          <p:cNvSpPr txBox="true"/>
          <p:nvPr/>
        </p:nvSpPr>
        <p:spPr>
          <a:xfrm rot="0">
            <a:off x="8772525" y="7977188"/>
            <a:ext cx="8601075" cy="1284542"/>
          </a:xfrm>
          <a:prstGeom prst="rect">
            <a:avLst/>
          </a:prstGeom>
        </p:spPr>
        <p:txBody>
          <a:bodyPr anchor="t" rtlCol="false" tIns="0" lIns="0" bIns="0" rIns="0">
            <a:spAutoFit/>
          </a:bodyPr>
          <a:lstStyle/>
          <a:p>
            <a:pPr algn="r" rtl="true">
              <a:lnSpc>
                <a:spcPts val="3415"/>
              </a:lnSpc>
            </a:pPr>
            <a:r>
              <a:rPr lang="he-IL" sz="2587">
                <a:solidFill>
                  <a:srgbClr val="FFFFFF"/>
                </a:solidFill>
                <a:latin typeface="Rubik"/>
                <a:ea typeface="Rubik"/>
                <a:cs typeface="Rubik"/>
                <a:sym typeface="Rubik"/>
                <a:rtl val="true"/>
              </a:rPr>
              <a:t>המקום השקט שאפשר להגיע אליו, לחמם בו אוכל, להשלים שיעורים וסתם לשבת במהלך היום בשעות החופשיות ולאחר הלימודים.</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400300" y="861346"/>
            <a:ext cx="914400" cy="920506"/>
            <a:chOff x="0" y="0"/>
            <a:chExt cx="1219200" cy="1227341"/>
          </a:xfrm>
        </p:grpSpPr>
        <p:sp>
          <p:nvSpPr>
            <p:cNvPr name="Freeform 5" id="5" descr="סמל Da Vinci המדויק שסופק על ידי המשתמש"/>
            <p:cNvSpPr/>
            <p:nvPr/>
          </p:nvSpPr>
          <p:spPr>
            <a:xfrm flipH="false" flipV="false" rot="0">
              <a:off x="0" y="0"/>
              <a:ext cx="1219200" cy="1227328"/>
            </a:xfrm>
            <a:custGeom>
              <a:avLst/>
              <a:gdLst/>
              <a:ahLst/>
              <a:cxnLst/>
              <a:rect r="r" b="b" t="t" l="l"/>
              <a:pathLst>
                <a:path h="1227328" w="1219200">
                  <a:moveTo>
                    <a:pt x="0" y="0"/>
                  </a:moveTo>
                  <a:lnTo>
                    <a:pt x="1219200" y="0"/>
                  </a:lnTo>
                  <a:lnTo>
                    <a:pt x="1219200" y="1227328"/>
                  </a:lnTo>
                  <a:lnTo>
                    <a:pt x="0" y="1227328"/>
                  </a:lnTo>
                  <a:lnTo>
                    <a:pt x="0" y="0"/>
                  </a:lnTo>
                  <a:close/>
                </a:path>
              </a:pathLst>
            </a:custGeom>
            <a:blipFill>
              <a:blip r:embed="rId4"/>
              <a:stretch>
                <a:fillRect l="0" t="0" r="0" b="-1"/>
              </a:stretch>
            </a:blipFill>
          </p:spPr>
        </p:sp>
      </p:grpSp>
      <p:grpSp>
        <p:nvGrpSpPr>
          <p:cNvPr name="Group 6" id="6"/>
          <p:cNvGrpSpPr/>
          <p:nvPr/>
        </p:nvGrpSpPr>
        <p:grpSpPr>
          <a:xfrm rot="0">
            <a:off x="914400" y="9320974"/>
            <a:ext cx="3400425" cy="474736"/>
            <a:chOff x="0" y="0"/>
            <a:chExt cx="4533900" cy="632981"/>
          </a:xfrm>
        </p:grpSpPr>
        <p:sp>
          <p:nvSpPr>
            <p:cNvPr name="Freeform 7" id="7"/>
            <p:cNvSpPr/>
            <p:nvPr/>
          </p:nvSpPr>
          <p:spPr>
            <a:xfrm flipH="false" flipV="false" rot="0">
              <a:off x="0" y="0"/>
              <a:ext cx="4533900" cy="632968"/>
            </a:xfrm>
            <a:custGeom>
              <a:avLst/>
              <a:gdLst/>
              <a:ahLst/>
              <a:cxnLst/>
              <a:rect r="r" b="b" t="t" l="l"/>
              <a:pathLst>
                <a:path h="632968" w="4533900">
                  <a:moveTo>
                    <a:pt x="0" y="0"/>
                  </a:moveTo>
                  <a:lnTo>
                    <a:pt x="4533900" y="0"/>
                  </a:lnTo>
                  <a:lnTo>
                    <a:pt x="4533900" y="632968"/>
                  </a:lnTo>
                  <a:lnTo>
                    <a:pt x="0" y="632968"/>
                  </a:lnTo>
                  <a:lnTo>
                    <a:pt x="0" y="0"/>
                  </a:lnTo>
                  <a:close/>
                </a:path>
              </a:pathLst>
            </a:custGeom>
            <a:blipFill>
              <a:blip r:embed="rId5"/>
              <a:stretch>
                <a:fillRect l="0" t="0" r="0" b="-2"/>
              </a:stretch>
            </a:blipFill>
          </p:spPr>
        </p:sp>
      </p:grpSp>
      <p:sp>
        <p:nvSpPr>
          <p:cNvPr name="TextBox 8" id="8"/>
          <p:cNvSpPr txBox="true"/>
          <p:nvPr/>
        </p:nvSpPr>
        <p:spPr>
          <a:xfrm rot="0">
            <a:off x="16430625" y="9401175"/>
            <a:ext cx="942975" cy="485775"/>
          </a:xfrm>
          <a:prstGeom prst="rect">
            <a:avLst/>
          </a:prstGeom>
        </p:spPr>
        <p:txBody>
          <a:bodyPr anchor="t" rtlCol="false" tIns="0" lIns="0" bIns="0" rIns="0">
            <a:spAutoFit/>
          </a:bodyPr>
          <a:lstStyle/>
          <a:p>
            <a:pPr algn="r">
              <a:lnSpc>
                <a:spcPts val="2970"/>
              </a:lnSpc>
            </a:pPr>
            <a:r>
              <a:rPr lang="en-US" sz="2250">
                <a:solidFill>
                  <a:srgbClr val="FFFFFF"/>
                </a:solidFill>
                <a:latin typeface="Rubik"/>
                <a:ea typeface="Rubik"/>
                <a:cs typeface="Rubik"/>
                <a:sym typeface="Rubik"/>
              </a:rPr>
              <a:t>08</a:t>
            </a:r>
          </a:p>
        </p:txBody>
      </p:sp>
      <p:sp>
        <p:nvSpPr>
          <p:cNvPr name="TextBox 9" id="9"/>
          <p:cNvSpPr txBox="true"/>
          <p:nvPr/>
        </p:nvSpPr>
        <p:spPr>
          <a:xfrm rot="0">
            <a:off x="2286000" y="3086100"/>
            <a:ext cx="13716000" cy="2600325"/>
          </a:xfrm>
          <a:prstGeom prst="rect">
            <a:avLst/>
          </a:prstGeom>
        </p:spPr>
        <p:txBody>
          <a:bodyPr anchor="t" rtlCol="false" tIns="0" lIns="0" bIns="0" rIns="0">
            <a:spAutoFit/>
          </a:bodyPr>
          <a:lstStyle/>
          <a:p>
            <a:pPr algn="ctr" rtl="true">
              <a:lnSpc>
                <a:spcPts val="20196"/>
              </a:lnSpc>
            </a:pPr>
            <a:r>
              <a:rPr lang="he-IL" b="true" sz="15300">
                <a:solidFill>
                  <a:srgbClr val="FFFFFF"/>
                </a:solidFill>
                <a:latin typeface="Rubik Bold"/>
                <a:ea typeface="Rubik Bold"/>
                <a:cs typeface="Rubik Bold"/>
                <a:sym typeface="Rubik Bold"/>
                <a:rtl val="true"/>
              </a:rPr>
              <a:t>שאלות?</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F638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6122748" y="2154695"/>
            <a:ext cx="6042504" cy="7103605"/>
          </a:xfrm>
          <a:custGeom>
            <a:avLst/>
            <a:gdLst/>
            <a:ahLst/>
            <a:cxnLst/>
            <a:rect r="r" b="b" t="t" l="l"/>
            <a:pathLst>
              <a:path h="7103605" w="6042504">
                <a:moveTo>
                  <a:pt x="0" y="0"/>
                </a:moveTo>
                <a:lnTo>
                  <a:pt x="6042504" y="0"/>
                </a:lnTo>
                <a:lnTo>
                  <a:pt x="6042504" y="7103605"/>
                </a:lnTo>
                <a:lnTo>
                  <a:pt x="0" y="71036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039382" y="904875"/>
            <a:ext cx="12209236" cy="1126519"/>
          </a:xfrm>
          <a:prstGeom prst="rect">
            <a:avLst/>
          </a:prstGeom>
        </p:spPr>
        <p:txBody>
          <a:bodyPr anchor="t" rtlCol="false" tIns="0" lIns="0" bIns="0" rIns="0">
            <a:spAutoFit/>
          </a:bodyPr>
          <a:lstStyle/>
          <a:p>
            <a:pPr algn="ctr" rtl="true">
              <a:lnSpc>
                <a:spcPts val="9232"/>
              </a:lnSpc>
            </a:pPr>
            <a:r>
              <a:rPr lang="he-IL" b="true" sz="6594">
                <a:solidFill>
                  <a:srgbClr val="FFFFFF"/>
                </a:solidFill>
                <a:latin typeface="Canva Sans Bold"/>
                <a:ea typeface="Canva Sans Bold"/>
                <a:cs typeface="Canva Sans Bold"/>
                <a:sym typeface="Canva Sans Bold"/>
                <a:rtl val="true"/>
              </a:rPr>
              <a:t>איך</a:t>
            </a:r>
            <a:r>
              <a:rPr lang="he-IL" b="true" sz="6594">
                <a:solidFill>
                  <a:srgbClr val="FFFFFF"/>
                </a:solidFill>
                <a:latin typeface="Canva Sans Bold"/>
                <a:ea typeface="Canva Sans Bold"/>
                <a:cs typeface="Canva Sans Bold"/>
                <a:sym typeface="Canva Sans Bold"/>
                <a:rtl val="true"/>
              </a:rPr>
              <a:t> מצטרפים לתוכנית </a:t>
            </a:r>
            <a:r>
              <a:rPr lang="en-US" b="true" sz="6594">
                <a:solidFill>
                  <a:srgbClr val="FFFFFF"/>
                </a:solidFill>
                <a:latin typeface="Canva Sans Bold"/>
                <a:ea typeface="Canva Sans Bold"/>
                <a:cs typeface="Canva Sans Bold"/>
                <a:sym typeface="Canva Sans Bold"/>
              </a:rPr>
              <a:t>Da Vinci</a:t>
            </a:r>
            <a:r>
              <a:rPr lang="ar-EG" b="true" sz="6594">
                <a:solidFill>
                  <a:srgbClr val="FFFFFF"/>
                </a:solidFill>
                <a:latin typeface="Canva Sans Bold"/>
                <a:ea typeface="Canva Sans Bold"/>
                <a:cs typeface="Canva Sans Bold"/>
                <a:sym typeface="Canva Sans Bold"/>
                <a:rtl val="true"/>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DAHZPGkwzWs</dc:identifier>
  <dcterms:modified xsi:type="dcterms:W3CDTF">2011-08-01T06:04:30Z</dcterms:modified>
  <cp:revision>1</cp:revision>
  <dc:title>מצגת גיוסים</dc:title>
</cp:coreProperties>
</file>